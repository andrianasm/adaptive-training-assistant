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63" r:id="rId3"/>
    <p:sldId id="259" r:id="rId4"/>
    <p:sldId id="260" r:id="rId5"/>
    <p:sldId id="261" r:id="rId6"/>
    <p:sldId id="262" r:id="rId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170"/>
    <p:restoredTop sz="74547"/>
  </p:normalViewPr>
  <p:slideViewPr>
    <p:cSldViewPr snapToGrid="0">
      <p:cViewPr varScale="1">
        <p:scale>
          <a:sx n="78" d="100"/>
          <a:sy n="78" d="100"/>
        </p:scale>
        <p:origin x="184"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6808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project idea is an adaptive training assistant. We’re Andriana Sima and Chandu Sukumar, and we want to combine a wearable sensor with a TurtleBot 3 Burger.</a:t>
            </a:r>
          </a:p>
          <a:p>
            <a:endParaRPr lang="en-US" dirty="0"/>
          </a:p>
          <a:p>
            <a:r>
              <a:rPr lang="en-US" dirty="0"/>
              <a:t>The wearable would send measurements to the robot, and the robot would give spoken feedback to the user. This is an early concept for our Prototyping &amp; Fabrication course, and we’ll adapt it after feedback.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We’re thinking about a person with limited mobility who wants support during an exercise. It can be difficult to monitor movement continuously, and the user may need simple feedback while exercising. A trainer cannot always be right next to the user.</a:t>
            </a:r>
          </a:p>
          <a:p>
            <a:endParaRPr dirty="0"/>
          </a:p>
          <a:p>
            <a:r>
              <a:rPr dirty="0"/>
              <a:t>Our goal is not to replace a trainer. We want to explore whether a robot can act as a simple training assistant by measuring movement and providing immediate feedback.</a:t>
            </a:r>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idea is that the user wears a device with an movement for motion detection and a heart-rate sensor. The wearable sends information via Bluetooth to a receiver on our TurtleBot. There are no wires connecting the user to the robot.</a:t>
            </a:r>
          </a:p>
          <a:p>
            <a:endParaRPr lang="en-US" dirty="0"/>
          </a:p>
          <a:p>
            <a:r>
              <a:rPr lang="en-US" dirty="0"/>
              <a:t>We’re going to process information like repetitions, pace and the heart-rate signal using ROS 2 and simple rules. Those rules select a response, which becomes voice output. The user hears the feedback and continues accordingly.</a:t>
            </a:r>
          </a:p>
          <a:p>
            <a:endParaRPr lang="en-US" dirty="0"/>
          </a:p>
          <a:p>
            <a:r>
              <a:rPr lang="en-US" dirty="0"/>
              <a:t>Heart rate is a physiological signal for our prototype. We’re not using it to make a medical judgement. We also still need to choose the exact components and test how they work together. For the first demonstration, we want to keep the robot nearby and focus on this interaction.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example is an arm-reaching exercise with five repetitions. The robot announces the exercise, like “Reach your arm forward five times.” Then the user starts moving.</a:t>
            </a:r>
          </a:p>
          <a:p>
            <a:endParaRPr lang="en-US" dirty="0"/>
          </a:p>
          <a:p>
            <a:r>
              <a:rPr lang="en-US" dirty="0"/>
              <a:t>The wearable collects information about motion, repetitions and heart rate. Our rules select a response based on that information, and the robot gives feedback with phrases like “Great, keep going,” “Slow down a little” or “Let’s take a short break.”</a:t>
            </a:r>
          </a:p>
          <a:p>
            <a:endParaRPr lang="en-US" dirty="0"/>
          </a:p>
          <a:p>
            <a:r>
              <a:rPr lang="en-US" dirty="0"/>
              <a:t>These are possible responses, rather than three messages that always play together. We still need to decide and test the rule settings. The point of the demonstration is to show how a measurement can change the response. It remains a prototype, without a claim that the robot can assess medical safety.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initial proof of concept will focus on one exercise. We’ll use the TurtleBot 3 Burger, a wearable movement and heart-rate sensor, Bluetooth, ROS 2, simple adaptation and voice feedback.</a:t>
            </a:r>
          </a:p>
          <a:p>
            <a:endParaRPr lang="en-US" dirty="0"/>
          </a:p>
          <a:p>
            <a:r>
              <a:rPr lang="en-US" dirty="0"/>
              <a:t>For fabrication, we want to design a simple adjustable wearable enclosure for the sensors and a removable speaker mount for the TurtleBot. The enclosure holds the sensors, while the adjustable attachment should keep the device comfortable and secure on the user.</a:t>
            </a:r>
          </a:p>
          <a:p>
            <a:endParaRPr lang="en-US" dirty="0"/>
          </a:p>
          <a:p>
            <a:r>
              <a:rPr lang="en-US" dirty="0"/>
              <a:t>An important part of the prototype will be testing whether the sensors stay stable while the user moves. We’ll explore sensor positioning rather than assume the first position is the best one. Our demo goal is one complete interaction in which a measurement changes the robot’s spoken response.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Later, we could explore an SpO₂ sensor, a Node-RED dashboard or more exercises. Those are optional extensions, rather than requirements for the first demonstration.</a:t>
            </a:r>
          </a:p>
          <a:p>
            <a:endParaRPr lang="en-US" dirty="0"/>
          </a:p>
          <a:p>
            <a:r>
              <a:rPr lang="en-US" dirty="0"/>
              <a:t>For now, we want one simple exercise and a complete working loop. We’d like your feedback on the exercise, the wearable design and the rules we should test. </a:t>
            </a:r>
            <a:r>
              <a:rPr dirty="0"/>
              <a:t>Thank you for listening. </a:t>
            </a:r>
            <a:r>
              <a:rPr lang="en-US" dirty="0"/>
              <a:t>We’re </a:t>
            </a:r>
            <a:r>
              <a:rPr dirty="0"/>
              <a:t>happy to </a:t>
            </a:r>
            <a:r>
              <a:rPr lang="en-US" dirty="0"/>
              <a:t>take </a:t>
            </a:r>
            <a:r>
              <a:rPr dirty="0"/>
              <a:t>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616624"/>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0000001-0001-4000-8000-000000000000}"/>
              </a:ext>
            </a:extLst>
          </p:cNvPr>
          <p:cNvSpPr>
            <a:spLocks noGrp="1"/>
          </p:cNvSpPr>
          <p:nvPr/>
        </p:nvSpPr>
        <p:spPr>
          <a:xfrm>
            <a:off x="609600" y="590550"/>
            <a:ext cx="6858000" cy="304800"/>
          </a:xfrm>
          <a:prstGeom prst="rect">
            <a:avLst/>
          </a:prstGeom>
          <a:noFill/>
          <a:ln w="0">
            <a:noFill/>
          </a:ln>
        </p:spPr>
        <p:txBody>
          <a:bodyPr lIns="0" tIns="0" rIns="0" bIns="0" anchor="ctr">
            <a:noAutofit/>
          </a:bodyPr>
          <a:lstStyle/>
          <a:p>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PROTOTYPING &amp; FABRICATION</a:t>
            </a:r>
          </a:p>
        </p:txBody>
      </p:sp>
      <p:sp>
        <p:nvSpPr>
          <p:cNvPr id="2" name="Rectangle 1">
            <a:extLst>
              <a:ext uri="{FF2B5EF4-FFF2-40B4-BE49-F238E27FC236}">
                <a16:creationId xmlns:a16="http://schemas.microsoft.com/office/drawing/2014/main" id="{00000001-0002-4000-8000-000000000000}"/>
              </a:ext>
            </a:extLst>
          </p:cNvPr>
          <p:cNvSpPr>
            <a:spLocks noGrp="1"/>
          </p:cNvSpPr>
          <p:nvPr/>
        </p:nvSpPr>
        <p:spPr>
          <a:xfrm>
            <a:off x="609600" y="2063234"/>
            <a:ext cx="5334000" cy="2286000"/>
          </a:xfrm>
          <a:prstGeom prst="rect">
            <a:avLst/>
          </a:prstGeom>
          <a:noFill/>
          <a:ln w="0">
            <a:noFill/>
          </a:ln>
        </p:spPr>
        <p:txBody>
          <a:bodyPr lIns="0" tIns="0" rIns="0" bIns="0" anchor="ctr">
            <a:noAutofit/>
          </a:bodyPr>
          <a:lstStyle/>
          <a:p>
            <a:pPr algn="l">
              <a:defRPr sz="4800" b="1">
                <a:solidFill>
                  <a:srgbClr val="12334A"/>
                </a:solidFill>
                <a:latin typeface="DejaVu Sans"/>
                <a:ea typeface="DejaVu Sans"/>
                <a:cs typeface="DejaVu Sans"/>
              </a:defRPr>
            </a:pPr>
            <a:r>
              <a:rPr sz="4800" b="1" dirty="0">
                <a:solidFill>
                  <a:srgbClr val="12334A"/>
                </a:solidFill>
                <a:latin typeface="DejaVu Sans"/>
                <a:ea typeface="DejaVu Sans"/>
                <a:cs typeface="DejaVu Sans"/>
              </a:rPr>
              <a:t>Adaptive</a:t>
            </a:r>
          </a:p>
          <a:p>
            <a:pPr algn="l">
              <a:defRPr sz="4800" b="1">
                <a:solidFill>
                  <a:srgbClr val="12334A"/>
                </a:solidFill>
                <a:latin typeface="DejaVu Sans"/>
                <a:ea typeface="DejaVu Sans"/>
                <a:cs typeface="DejaVu Sans"/>
              </a:defRPr>
            </a:pPr>
            <a:r>
              <a:rPr sz="4800" b="1" dirty="0">
                <a:solidFill>
                  <a:srgbClr val="12334A"/>
                </a:solidFill>
                <a:latin typeface="DejaVu Sans"/>
                <a:ea typeface="DejaVu Sans"/>
                <a:cs typeface="DejaVu Sans"/>
              </a:rPr>
              <a:t>Training</a:t>
            </a:r>
          </a:p>
          <a:p>
            <a:pPr algn="l">
              <a:defRPr sz="4800" b="1">
                <a:solidFill>
                  <a:srgbClr val="12334A"/>
                </a:solidFill>
                <a:latin typeface="DejaVu Sans"/>
                <a:ea typeface="DejaVu Sans"/>
                <a:cs typeface="DejaVu Sans"/>
              </a:defRPr>
            </a:pPr>
            <a:r>
              <a:rPr sz="4800" b="1" dirty="0">
                <a:solidFill>
                  <a:srgbClr val="12334A"/>
                </a:solidFill>
                <a:latin typeface="DejaVu Sans"/>
                <a:ea typeface="DejaVu Sans"/>
                <a:cs typeface="DejaVu Sans"/>
              </a:rPr>
              <a:t>Assistant</a:t>
            </a:r>
          </a:p>
        </p:txBody>
      </p:sp>
      <p:sp>
        <p:nvSpPr>
          <p:cNvPr id="6" name="Rectangle 5">
            <a:extLst>
              <a:ext uri="{FF2B5EF4-FFF2-40B4-BE49-F238E27FC236}">
                <a16:creationId xmlns:a16="http://schemas.microsoft.com/office/drawing/2014/main" id="{00000001-0005-4000-8000-000000000000}"/>
              </a:ext>
            </a:extLst>
          </p:cNvPr>
          <p:cNvSpPr>
            <a:spLocks noGrp="1"/>
          </p:cNvSpPr>
          <p:nvPr/>
        </p:nvSpPr>
        <p:spPr>
          <a:xfrm>
            <a:off x="609600" y="5962650"/>
            <a:ext cx="10972800" cy="19050"/>
          </a:xfrm>
          <a:prstGeom prst="rect">
            <a:avLst/>
          </a:prstGeom>
          <a:solidFill>
            <a:srgbClr val="C6D8E0"/>
          </a:solidFill>
          <a:ln w="0">
            <a:noFill/>
          </a:ln>
        </p:spPr>
        <p:txBody>
          <a:bodyPr/>
          <a:lstStyle/>
          <a:p>
            <a:endParaRPr lang="en-US"/>
          </a:p>
        </p:txBody>
      </p:sp>
      <p:sp>
        <p:nvSpPr>
          <p:cNvPr id="10" name="Rectangle 9"/>
          <p:cNvSpPr/>
          <p:nvPr/>
        </p:nvSpPr>
        <p:spPr>
          <a:xfrm>
            <a:off x="7105650" y="1714500"/>
            <a:ext cx="3524250" cy="1066800"/>
          </a:xfrm>
          <a:prstGeom prst="rect">
            <a:avLst/>
          </a:prstGeom>
          <a:solidFill>
            <a:srgbClr val="DDF3F0"/>
          </a:solidFill>
          <a:ln w="19050">
            <a:solidFill>
              <a:srgbClr val="C6D8E0"/>
            </a:solidFill>
          </a:ln>
        </p:spPr>
        <p:style>
          <a:lnRef idx="1">
            <a:schemeClr val="accent1"/>
          </a:lnRef>
          <a:fillRef idx="3">
            <a:schemeClr val="accent1"/>
          </a:fillRef>
          <a:effectRef idx="2">
            <a:schemeClr val="accent1"/>
          </a:effectRef>
          <a:fontRef idx="minor">
            <a:schemeClr val="lt1"/>
          </a:fontRef>
        </p:style>
        <p:txBody>
          <a:bodyPr wrap="square" lIns="152400" rIns="152400" rtlCol="0" anchor="ctr"/>
          <a:lstStyle/>
          <a:p>
            <a:pPr algn="ctr"/>
            <a:r>
              <a:rPr sz="2100" b="1" dirty="0">
                <a:solidFill>
                  <a:srgbClr val="12334A"/>
                </a:solidFill>
                <a:latin typeface="DejaVu Sans"/>
              </a:rPr>
              <a:t>Wearable</a:t>
            </a:r>
          </a:p>
          <a:p>
            <a:pPr algn="ctr"/>
            <a:r>
              <a:rPr lang="en-US" sz="2100" b="1" dirty="0">
                <a:solidFill>
                  <a:srgbClr val="12334A"/>
                </a:solidFill>
                <a:latin typeface="DejaVu Sans"/>
              </a:rPr>
              <a:t>movement + heart-rate sensor</a:t>
            </a:r>
            <a:endParaRPr sz="2100" b="1" dirty="0">
              <a:solidFill>
                <a:srgbClr val="12334A"/>
              </a:solidFill>
              <a:latin typeface="DejaVu Sans"/>
            </a:endParaRPr>
          </a:p>
        </p:txBody>
      </p:sp>
      <p:sp>
        <p:nvSpPr>
          <p:cNvPr id="11" name="Rectangle 10"/>
          <p:cNvSpPr/>
          <p:nvPr/>
        </p:nvSpPr>
        <p:spPr>
          <a:xfrm>
            <a:off x="6667500" y="4000500"/>
            <a:ext cx="4400550" cy="1143000"/>
          </a:xfrm>
          <a:prstGeom prst="rect">
            <a:avLst/>
          </a:prstGeom>
          <a:solidFill>
            <a:srgbClr val="F5F9FB"/>
          </a:solidFill>
          <a:ln w="19050">
            <a:solidFill>
              <a:srgbClr val="C6D8E0"/>
            </a:solidFill>
          </a:ln>
        </p:spPr>
        <p:style>
          <a:lnRef idx="1">
            <a:schemeClr val="accent1"/>
          </a:lnRef>
          <a:fillRef idx="3">
            <a:schemeClr val="accent1"/>
          </a:fillRef>
          <a:effectRef idx="2">
            <a:schemeClr val="accent1"/>
          </a:effectRef>
          <a:fontRef idx="minor">
            <a:schemeClr val="lt1"/>
          </a:fontRef>
        </p:style>
        <p:txBody>
          <a:bodyPr wrap="square" lIns="152400" rIns="152400" rtlCol="0" anchor="ctr"/>
          <a:lstStyle/>
          <a:p>
            <a:pPr algn="ctr"/>
            <a:r>
              <a:rPr sz="2025" b="1" dirty="0">
                <a:solidFill>
                  <a:srgbClr val="12334A"/>
                </a:solidFill>
                <a:latin typeface="DejaVu Sans"/>
              </a:rPr>
              <a:t>TurtleBot 3 Burger</a:t>
            </a:r>
          </a:p>
          <a:p>
            <a:pPr algn="ctr"/>
            <a:r>
              <a:rPr sz="2025" b="1" dirty="0">
                <a:solidFill>
                  <a:srgbClr val="12334A"/>
                </a:solidFill>
                <a:latin typeface="DejaVu Sans"/>
              </a:rPr>
              <a:t>Voice instructions + feedback</a:t>
            </a:r>
          </a:p>
        </p:txBody>
      </p:sp>
      <p:cxnSp>
        <p:nvCxnSpPr>
          <p:cNvPr id="12" name="Connector 11"/>
          <p:cNvCxnSpPr/>
          <p:nvPr/>
        </p:nvCxnSpPr>
        <p:spPr>
          <a:xfrm>
            <a:off x="8867775" y="2781300"/>
            <a:ext cx="0" cy="1219200"/>
          </a:xfrm>
          <a:prstGeom prst="line">
            <a:avLst/>
          </a:prstGeom>
          <a:ln w="3175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201150" y="3206234"/>
            <a:ext cx="2381250" cy="369332"/>
          </a:xfrm>
          <a:prstGeom prst="rect">
            <a:avLst/>
          </a:prstGeom>
          <a:noFill/>
        </p:spPr>
        <p:txBody>
          <a:bodyPr wrap="square" lIns="0" rIns="0">
            <a:spAutoFit/>
          </a:bodyPr>
          <a:lstStyle/>
          <a:p>
            <a:r>
              <a:rPr sz="1800" b="1" dirty="0">
                <a:solidFill>
                  <a:srgbClr val="087F8C"/>
                </a:solidFill>
                <a:latin typeface="DejaVu Sans"/>
              </a:rPr>
              <a:t>Bluetooth</a:t>
            </a:r>
          </a:p>
        </p:txBody>
      </p:sp>
      <p:sp>
        <p:nvSpPr>
          <p:cNvPr id="14" name="TextBox 13"/>
          <p:cNvSpPr txBox="1"/>
          <p:nvPr/>
        </p:nvSpPr>
        <p:spPr>
          <a:xfrm>
            <a:off x="609600" y="4914900"/>
            <a:ext cx="5524500" cy="457200"/>
          </a:xfrm>
          <a:prstGeom prst="rect">
            <a:avLst/>
          </a:prstGeom>
          <a:noFill/>
        </p:spPr>
        <p:txBody>
          <a:bodyPr wrap="square" lIns="0" rIns="0">
            <a:spAutoFit/>
          </a:bodyPr>
          <a:lstStyle/>
          <a:p>
            <a:pPr algn="l"/>
            <a:r>
              <a:rPr sz="2100">
                <a:solidFill>
                  <a:srgbClr val="087F8C"/>
                </a:solidFill>
                <a:latin typeface="DejaVu Sans"/>
              </a:rPr>
              <a:t>Andriana Sima and Chandu Sukumar</a:t>
            </a:r>
          </a:p>
        </p:txBody>
      </p:sp>
    </p:spTree>
    <p:extLst>
      <p:ext uri="{BB962C8B-B14F-4D97-AF65-F5344CB8AC3E}">
        <p14:creationId xmlns:p14="http://schemas.microsoft.com/office/powerpoint/2010/main" val="10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09600" y="438150"/>
            <a:ext cx="10972800" cy="800100"/>
          </a:xfrm>
          <a:prstGeom prst="rect">
            <a:avLst/>
          </a:prstGeom>
          <a:noFill/>
        </p:spPr>
        <p:txBody>
          <a:bodyPr wrap="square" lIns="0" tIns="0" rIns="0" bIns="0" anchor="ctr">
            <a:spAutoFit/>
          </a:bodyPr>
          <a:lstStyle/>
          <a:p>
            <a:pPr algn="l"/>
            <a:r>
              <a:rPr sz="3300" b="1">
                <a:solidFill>
                  <a:srgbClr val="12334A"/>
                </a:solidFill>
                <a:latin typeface="DejaVu Sans"/>
              </a:rPr>
              <a:t>The Problem</a:t>
            </a:r>
          </a:p>
        </p:txBody>
      </p:sp>
      <p:sp>
        <p:nvSpPr>
          <p:cNvPr id="3" name="TextBox 2"/>
          <p:cNvSpPr txBox="1"/>
          <p:nvPr/>
        </p:nvSpPr>
        <p:spPr>
          <a:xfrm>
            <a:off x="609600" y="1447800"/>
            <a:ext cx="10972800" cy="514350"/>
          </a:xfrm>
          <a:prstGeom prst="rect">
            <a:avLst/>
          </a:prstGeom>
          <a:noFill/>
        </p:spPr>
        <p:txBody>
          <a:bodyPr wrap="square" lIns="0" tIns="0" rIns="0" bIns="0" anchor="ctr">
            <a:spAutoFit/>
          </a:bodyPr>
          <a:lstStyle/>
          <a:p>
            <a:pPr algn="l"/>
            <a:r>
              <a:rPr sz="2325" b="0">
                <a:solidFill>
                  <a:srgbClr val="527080"/>
                </a:solidFill>
                <a:latin typeface="DejaVu Sans"/>
              </a:rPr>
              <a:t>Supporting exercise training can be difficult</a:t>
            </a:r>
          </a:p>
        </p:txBody>
      </p:sp>
      <p:sp>
        <p:nvSpPr>
          <p:cNvPr id="4" name="TextBox 3"/>
          <p:cNvSpPr txBox="1"/>
          <p:nvPr/>
        </p:nvSpPr>
        <p:spPr>
          <a:xfrm>
            <a:off x="609600" y="2305050"/>
            <a:ext cx="5905500" cy="400050"/>
          </a:xfrm>
          <a:prstGeom prst="rect">
            <a:avLst/>
          </a:prstGeom>
          <a:noFill/>
        </p:spPr>
        <p:txBody>
          <a:bodyPr wrap="square" lIns="0" tIns="0" rIns="0" bIns="0" anchor="ctr">
            <a:spAutoFit/>
          </a:bodyPr>
          <a:lstStyle/>
          <a:p>
            <a:pPr algn="l"/>
            <a:r>
              <a:rPr sz="2175" b="1">
                <a:solidFill>
                  <a:srgbClr val="087F8C"/>
                </a:solidFill>
                <a:latin typeface="DejaVu Sans"/>
              </a:rPr>
              <a:t>Continuous monitoring</a:t>
            </a:r>
          </a:p>
        </p:txBody>
      </p:sp>
      <p:sp>
        <p:nvSpPr>
          <p:cNvPr id="5" name="TextBox 4"/>
          <p:cNvSpPr txBox="1"/>
          <p:nvPr/>
        </p:nvSpPr>
        <p:spPr>
          <a:xfrm>
            <a:off x="609600" y="2762250"/>
            <a:ext cx="5905500" cy="571500"/>
          </a:xfrm>
          <a:prstGeom prst="rect">
            <a:avLst/>
          </a:prstGeom>
          <a:noFill/>
        </p:spPr>
        <p:txBody>
          <a:bodyPr wrap="square" lIns="0" tIns="0" rIns="0" bIns="0" anchor="ctr">
            <a:spAutoFit/>
          </a:bodyPr>
          <a:lstStyle/>
          <a:p>
            <a:pPr algn="l"/>
            <a:r>
              <a:rPr sz="1875" b="0">
                <a:solidFill>
                  <a:srgbClr val="12334A"/>
                </a:solidFill>
                <a:latin typeface="DejaVu Sans"/>
              </a:rPr>
              <a:t>Movement can be difficult to monitor continuously.</a:t>
            </a:r>
          </a:p>
        </p:txBody>
      </p:sp>
      <p:sp>
        <p:nvSpPr>
          <p:cNvPr id="6" name="TextBox 5"/>
          <p:cNvSpPr txBox="1"/>
          <p:nvPr/>
        </p:nvSpPr>
        <p:spPr>
          <a:xfrm>
            <a:off x="609600" y="3476625"/>
            <a:ext cx="5905500" cy="400050"/>
          </a:xfrm>
          <a:prstGeom prst="rect">
            <a:avLst/>
          </a:prstGeom>
          <a:noFill/>
        </p:spPr>
        <p:txBody>
          <a:bodyPr wrap="square" lIns="0" tIns="0" rIns="0" bIns="0" anchor="ctr">
            <a:spAutoFit/>
          </a:bodyPr>
          <a:lstStyle/>
          <a:p>
            <a:pPr algn="l"/>
            <a:r>
              <a:rPr sz="2175" b="1">
                <a:solidFill>
                  <a:srgbClr val="087F8C"/>
                </a:solidFill>
                <a:latin typeface="DejaVu Sans"/>
              </a:rPr>
              <a:t>Simple feedback</a:t>
            </a:r>
          </a:p>
        </p:txBody>
      </p:sp>
      <p:sp>
        <p:nvSpPr>
          <p:cNvPr id="7" name="TextBox 6"/>
          <p:cNvSpPr txBox="1"/>
          <p:nvPr/>
        </p:nvSpPr>
        <p:spPr>
          <a:xfrm>
            <a:off x="609600" y="3933825"/>
            <a:ext cx="5905500" cy="571500"/>
          </a:xfrm>
          <a:prstGeom prst="rect">
            <a:avLst/>
          </a:prstGeom>
          <a:noFill/>
        </p:spPr>
        <p:txBody>
          <a:bodyPr wrap="square" lIns="0" tIns="0" rIns="0" bIns="0" anchor="ctr">
            <a:spAutoFit/>
          </a:bodyPr>
          <a:lstStyle/>
          <a:p>
            <a:pPr algn="l"/>
            <a:r>
              <a:rPr sz="1875" b="0">
                <a:solidFill>
                  <a:srgbClr val="12334A"/>
                </a:solidFill>
                <a:latin typeface="DejaVu Sans"/>
              </a:rPr>
              <a:t>The user may need feedback while exercising.</a:t>
            </a:r>
          </a:p>
        </p:txBody>
      </p:sp>
      <p:sp>
        <p:nvSpPr>
          <p:cNvPr id="8" name="TextBox 7"/>
          <p:cNvSpPr txBox="1"/>
          <p:nvPr/>
        </p:nvSpPr>
        <p:spPr>
          <a:xfrm>
            <a:off x="609600" y="4648200"/>
            <a:ext cx="5905500" cy="400050"/>
          </a:xfrm>
          <a:prstGeom prst="rect">
            <a:avLst/>
          </a:prstGeom>
          <a:noFill/>
        </p:spPr>
        <p:txBody>
          <a:bodyPr wrap="square" lIns="0" tIns="0" rIns="0" bIns="0" anchor="ctr">
            <a:spAutoFit/>
          </a:bodyPr>
          <a:lstStyle/>
          <a:p>
            <a:pPr algn="l"/>
            <a:r>
              <a:rPr sz="2175" b="1">
                <a:solidFill>
                  <a:srgbClr val="087F8C"/>
                </a:solidFill>
                <a:latin typeface="DejaVu Sans"/>
              </a:rPr>
              <a:t>Trainer availability</a:t>
            </a:r>
          </a:p>
        </p:txBody>
      </p:sp>
      <p:sp>
        <p:nvSpPr>
          <p:cNvPr id="9" name="TextBox 8"/>
          <p:cNvSpPr txBox="1"/>
          <p:nvPr/>
        </p:nvSpPr>
        <p:spPr>
          <a:xfrm>
            <a:off x="609600" y="5105400"/>
            <a:ext cx="5905500" cy="571500"/>
          </a:xfrm>
          <a:prstGeom prst="rect">
            <a:avLst/>
          </a:prstGeom>
          <a:noFill/>
        </p:spPr>
        <p:txBody>
          <a:bodyPr wrap="square" lIns="0" tIns="0" rIns="0" bIns="0" anchor="ctr">
            <a:spAutoFit/>
          </a:bodyPr>
          <a:lstStyle/>
          <a:p>
            <a:pPr algn="l"/>
            <a:r>
              <a:rPr sz="1875" b="0">
                <a:solidFill>
                  <a:srgbClr val="12334A"/>
                </a:solidFill>
                <a:latin typeface="DejaVu Sans"/>
              </a:rPr>
              <a:t>A trainer cannot always be next to the user.</a:t>
            </a:r>
          </a:p>
        </p:txBody>
      </p:sp>
      <p:cxnSp>
        <p:nvCxnSpPr>
          <p:cNvPr id="10" name="Connector 9"/>
          <p:cNvCxnSpPr/>
          <p:nvPr/>
        </p:nvCxnSpPr>
        <p:spPr>
          <a:xfrm>
            <a:off x="7010400" y="2228850"/>
            <a:ext cx="0" cy="3352800"/>
          </a:xfrm>
          <a:prstGeom prst="line">
            <a:avLst/>
          </a:prstGeom>
          <a:ln w="22860">
            <a:solidFill>
              <a:srgbClr val="C6D8E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24750" y="2390775"/>
            <a:ext cx="4029075" cy="400050"/>
          </a:xfrm>
          <a:prstGeom prst="rect">
            <a:avLst/>
          </a:prstGeom>
          <a:noFill/>
        </p:spPr>
        <p:txBody>
          <a:bodyPr wrap="square" lIns="0" tIns="0" rIns="0" bIns="0" anchor="ctr">
            <a:spAutoFit/>
          </a:bodyPr>
          <a:lstStyle/>
          <a:p>
            <a:pPr algn="l"/>
            <a:r>
              <a:rPr sz="2175" b="1">
                <a:solidFill>
                  <a:srgbClr val="087F8C"/>
                </a:solidFill>
                <a:latin typeface="DejaVu Sans"/>
              </a:rPr>
              <a:t>Our question</a:t>
            </a:r>
          </a:p>
        </p:txBody>
      </p:sp>
      <p:sp>
        <p:nvSpPr>
          <p:cNvPr id="12" name="TextBox 11"/>
          <p:cNvSpPr txBox="1"/>
          <p:nvPr/>
        </p:nvSpPr>
        <p:spPr>
          <a:xfrm>
            <a:off x="7524750" y="3281102"/>
            <a:ext cx="4029075" cy="1038746"/>
          </a:xfrm>
          <a:prstGeom prst="rect">
            <a:avLst/>
          </a:prstGeom>
          <a:noFill/>
        </p:spPr>
        <p:txBody>
          <a:bodyPr wrap="square" lIns="0" tIns="0" rIns="0" bIns="0" anchor="ctr">
            <a:spAutoFit/>
          </a:bodyPr>
          <a:lstStyle/>
          <a:p>
            <a:pPr algn="l"/>
            <a:r>
              <a:rPr lang="en-US" sz="2250" b="1" dirty="0">
                <a:solidFill>
                  <a:srgbClr val="12334A"/>
                </a:solidFill>
                <a:latin typeface="DejaVu Sans"/>
              </a:rPr>
              <a:t>Could a mobile robot</a:t>
            </a:r>
          </a:p>
          <a:p>
            <a:pPr algn="l"/>
            <a:r>
              <a:rPr lang="en-US" sz="2250" b="1" dirty="0">
                <a:solidFill>
                  <a:srgbClr val="12334A"/>
                </a:solidFill>
                <a:latin typeface="DejaVu Sans"/>
              </a:rPr>
              <a:t>and wearable sensors</a:t>
            </a:r>
          </a:p>
          <a:p>
            <a:pPr algn="l"/>
            <a:r>
              <a:rPr lang="en-US" sz="2250" b="1" dirty="0">
                <a:solidFill>
                  <a:srgbClr val="12334A"/>
                </a:solidFill>
                <a:latin typeface="DejaVu Sans"/>
              </a:rPr>
              <a:t>help?</a:t>
            </a:r>
          </a:p>
        </p:txBody>
      </p:sp>
      <p:sp>
        <p:nvSpPr>
          <p:cNvPr id="13" name="TextBox 12"/>
          <p:cNvSpPr txBox="1"/>
          <p:nvPr/>
        </p:nvSpPr>
        <p:spPr>
          <a:xfrm>
            <a:off x="7524750" y="4876800"/>
            <a:ext cx="4029075" cy="762000"/>
          </a:xfrm>
          <a:prstGeom prst="rect">
            <a:avLst/>
          </a:prstGeom>
          <a:noFill/>
        </p:spPr>
        <p:txBody>
          <a:bodyPr wrap="square" lIns="0" tIns="0" rIns="0" bIns="0" anchor="ctr">
            <a:spAutoFit/>
          </a:bodyPr>
          <a:lstStyle/>
          <a:p>
            <a:pPr algn="l"/>
            <a:r>
              <a:rPr sz="1950" b="0" dirty="0">
                <a:solidFill>
                  <a:srgbClr val="527080"/>
                </a:solidFill>
                <a:latin typeface="DejaVu Sans"/>
              </a:rPr>
              <a:t>Support the trainer</a:t>
            </a:r>
          </a:p>
          <a:p>
            <a:pPr algn="l"/>
            <a:r>
              <a:rPr sz="1950" b="0" dirty="0">
                <a:solidFill>
                  <a:srgbClr val="527080"/>
                </a:solidFill>
                <a:latin typeface="DejaVu Sans"/>
              </a:rPr>
              <a:t>with immediate feedback</a:t>
            </a:r>
          </a:p>
        </p:txBody>
      </p:sp>
      <p:sp>
        <p:nvSpPr>
          <p:cNvPr id="14" name="TextBox 13"/>
          <p:cNvSpPr txBox="1"/>
          <p:nvPr/>
        </p:nvSpPr>
        <p:spPr>
          <a:xfrm>
            <a:off x="11096625" y="6315075"/>
            <a:ext cx="476250" cy="266700"/>
          </a:xfrm>
          <a:prstGeom prst="rect">
            <a:avLst/>
          </a:prstGeom>
          <a:noFill/>
        </p:spPr>
        <p:txBody>
          <a:bodyPr wrap="square" lIns="0" tIns="0" rIns="0" bIns="0" anchor="ctr">
            <a:spAutoFit/>
          </a:bodyPr>
          <a:lstStyle/>
          <a:p>
            <a:pPr algn="ctr"/>
            <a:r>
              <a:rPr sz="1350" b="0">
                <a:solidFill>
                  <a:srgbClr val="527080"/>
                </a:solidFill>
                <a:latin typeface="DejaVu San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0000004-0001-4000-8000-000000000000}"/>
              </a:ext>
            </a:extLst>
          </p:cNvPr>
          <p:cNvSpPr>
            <a:spLocks noGrp="1"/>
          </p:cNvSpPr>
          <p:nvPr/>
        </p:nvSpPr>
        <p:spPr>
          <a:xfrm>
            <a:off x="609600" y="438150"/>
            <a:ext cx="10972800" cy="800100"/>
          </a:xfrm>
          <a:prstGeom prst="rect">
            <a:avLst/>
          </a:prstGeom>
          <a:noFill/>
          <a:ln w="0">
            <a:noFill/>
          </a:ln>
        </p:spPr>
        <p:txBody>
          <a:bodyPr lIns="0" tIns="0" rIns="0" bIns="0" anchor="ctr">
            <a:noAutofit/>
          </a:bodyPr>
          <a:lstStyle/>
          <a:p>
            <a:pPr algn="l">
              <a:defRPr sz="3300" b="1">
                <a:solidFill>
                  <a:srgbClr val="12334A"/>
                </a:solidFill>
                <a:latin typeface="DejaVu Sans"/>
                <a:ea typeface="DejaVu Sans"/>
                <a:cs typeface="DejaVu Sans"/>
              </a:defRPr>
            </a:pPr>
            <a:r>
              <a:rPr lang="en-US" sz="3300" b="1">
                <a:solidFill>
                  <a:srgbClr val="12334A"/>
                </a:solidFill>
                <a:latin typeface="DejaVu Sans"/>
                <a:ea typeface="DejaVu Sans"/>
                <a:cs typeface="DejaVu Sans"/>
              </a:rPr>
              <a:t>Proposed solution and</a:t>
            </a:r>
            <a:r>
              <a:rPr sz="3300" b="1" dirty="0">
                <a:solidFill>
                  <a:srgbClr val="12334A"/>
                </a:solidFill>
                <a:latin typeface="DejaVu Sans"/>
                <a:ea typeface="DejaVu Sans"/>
                <a:cs typeface="DejaVu Sans"/>
              </a:rPr>
              <a:t> architecture</a:t>
            </a:r>
          </a:p>
        </p:txBody>
      </p:sp>
      <p:sp>
        <p:nvSpPr>
          <p:cNvPr id="2" name="Rectangle 1">
            <a:extLst>
              <a:ext uri="{FF2B5EF4-FFF2-40B4-BE49-F238E27FC236}">
                <a16:creationId xmlns:a16="http://schemas.microsoft.com/office/drawing/2014/main" id="{00000004-0002-4000-8000-000000000000}"/>
              </a:ext>
            </a:extLst>
          </p:cNvPr>
          <p:cNvSpPr>
            <a:spLocks noGrp="1"/>
          </p:cNvSpPr>
          <p:nvPr/>
        </p:nvSpPr>
        <p:spPr>
          <a:xfrm>
            <a:off x="11096625" y="6315075"/>
            <a:ext cx="476250" cy="266700"/>
          </a:xfrm>
          <a:prstGeom prst="rect">
            <a:avLst/>
          </a:prstGeom>
          <a:noFill/>
          <a:ln w="0">
            <a:noFill/>
          </a:ln>
        </p:spPr>
        <p:txBody>
          <a:bodyPr lIns="0" tIns="0" rIns="0" bIns="0" anchor="ctr">
            <a:noAutofit/>
          </a:bodyPr>
          <a:lstStyle/>
          <a:p>
            <a:pPr algn="r">
              <a:defRPr sz="1350" b="0">
                <a:solidFill>
                  <a:srgbClr val="527080"/>
                </a:solidFill>
                <a:latin typeface="DejaVu Sans"/>
                <a:ea typeface="DejaVu Sans"/>
                <a:cs typeface="DejaVu Sans"/>
              </a:defRPr>
            </a:pPr>
            <a:r>
              <a:rPr lang="en-US" sz="1350" b="0">
                <a:solidFill>
                  <a:srgbClr val="527080"/>
                </a:solidFill>
                <a:latin typeface="DejaVu Sans"/>
                <a:ea typeface="DejaVu Sans"/>
                <a:cs typeface="DejaVu Sans"/>
              </a:rPr>
              <a:t>03</a:t>
            </a:r>
            <a:endParaRPr sz="1350" b="0">
              <a:solidFill>
                <a:srgbClr val="527080"/>
              </a:solidFill>
              <a:latin typeface="DejaVu Sans"/>
              <a:ea typeface="DejaVu Sans"/>
              <a:cs typeface="DejaVu Sans"/>
            </a:endParaRPr>
          </a:p>
        </p:txBody>
      </p:sp>
      <p:sp>
        <p:nvSpPr>
          <p:cNvPr id="4" name="Rectangle 3">
            <a:extLst>
              <a:ext uri="{FF2B5EF4-FFF2-40B4-BE49-F238E27FC236}">
                <a16:creationId xmlns:a16="http://schemas.microsoft.com/office/drawing/2014/main" id="{00000004-0004-4000-8000-000000000000}"/>
              </a:ext>
            </a:extLst>
          </p:cNvPr>
          <p:cNvSpPr>
            <a:spLocks noGrp="1"/>
          </p:cNvSpPr>
          <p:nvPr/>
        </p:nvSpPr>
        <p:spPr>
          <a:xfrm>
            <a:off x="890587" y="2257421"/>
            <a:ext cx="3752850" cy="3705225"/>
          </a:xfrm>
          <a:prstGeom prst="rect">
            <a:avLst/>
          </a:prstGeom>
          <a:solidFill>
            <a:srgbClr val="F5F9FB"/>
          </a:solidFill>
          <a:ln w="0">
            <a:noFill/>
          </a:ln>
        </p:spPr>
        <p:txBody>
          <a:bodyPr/>
          <a:lstStyle/>
          <a:p>
            <a:endParaRPr lang="en-US"/>
          </a:p>
        </p:txBody>
      </p:sp>
      <p:sp>
        <p:nvSpPr>
          <p:cNvPr id="5" name="Rectangle 4">
            <a:extLst>
              <a:ext uri="{FF2B5EF4-FFF2-40B4-BE49-F238E27FC236}">
                <a16:creationId xmlns:a16="http://schemas.microsoft.com/office/drawing/2014/main" id="{00000004-0005-4000-8000-000000000000}"/>
              </a:ext>
            </a:extLst>
          </p:cNvPr>
          <p:cNvSpPr>
            <a:spLocks noGrp="1"/>
          </p:cNvSpPr>
          <p:nvPr/>
        </p:nvSpPr>
        <p:spPr>
          <a:xfrm>
            <a:off x="5734050" y="2076450"/>
            <a:ext cx="5848350" cy="3105150"/>
          </a:xfrm>
          <a:prstGeom prst="rect">
            <a:avLst/>
          </a:prstGeom>
          <a:solidFill>
            <a:srgbClr val="F5F9FB"/>
          </a:solidFill>
          <a:ln w="0">
            <a:noFill/>
          </a:ln>
        </p:spPr>
        <p:txBody>
          <a:bodyPr/>
          <a:lstStyle/>
          <a:p>
            <a:endParaRPr lang="en-US"/>
          </a:p>
        </p:txBody>
      </p:sp>
      <p:sp>
        <p:nvSpPr>
          <p:cNvPr id="6" name="Rectangle 5">
            <a:extLst>
              <a:ext uri="{FF2B5EF4-FFF2-40B4-BE49-F238E27FC236}">
                <a16:creationId xmlns:a16="http://schemas.microsoft.com/office/drawing/2014/main" id="{00000004-0006-4000-8000-000000000000}"/>
              </a:ext>
            </a:extLst>
          </p:cNvPr>
          <p:cNvSpPr>
            <a:spLocks noGrp="1"/>
          </p:cNvSpPr>
          <p:nvPr/>
        </p:nvSpPr>
        <p:spPr>
          <a:xfrm>
            <a:off x="1000124" y="2259460"/>
            <a:ext cx="3362325" cy="304800"/>
          </a:xfrm>
          <a:prstGeom prst="rect">
            <a:avLst/>
          </a:prstGeom>
          <a:noFill/>
          <a:ln w="0">
            <a:noFill/>
          </a:ln>
        </p:spPr>
        <p:txBody>
          <a:bodyPr lIns="0" tIns="0" rIns="0" bIns="0" anchor="ctr">
            <a:noAutofit/>
          </a:bodyPr>
          <a:lstStyle/>
          <a:p>
            <a:pPr algn="l">
              <a:defRPr sz="1500" b="1">
                <a:solidFill>
                  <a:srgbClr val="087F8C"/>
                </a:solidFill>
                <a:latin typeface="DejaVu Sans"/>
                <a:ea typeface="DejaVu Sans"/>
                <a:cs typeface="DejaVu Sans"/>
              </a:defRPr>
            </a:pPr>
            <a:r>
              <a:rPr sz="1500" b="1" dirty="0">
                <a:solidFill>
                  <a:srgbClr val="087F8C"/>
                </a:solidFill>
                <a:latin typeface="DejaVu Sans"/>
                <a:ea typeface="DejaVu Sans"/>
                <a:cs typeface="DejaVu Sans"/>
              </a:rPr>
              <a:t>ON THE USER</a:t>
            </a:r>
          </a:p>
        </p:txBody>
      </p:sp>
      <p:sp>
        <p:nvSpPr>
          <p:cNvPr id="7" name="Rectangle 6">
            <a:extLst>
              <a:ext uri="{FF2B5EF4-FFF2-40B4-BE49-F238E27FC236}">
                <a16:creationId xmlns:a16="http://schemas.microsoft.com/office/drawing/2014/main" id="{00000004-0007-4000-8000-000000000000}"/>
              </a:ext>
            </a:extLst>
          </p:cNvPr>
          <p:cNvSpPr>
            <a:spLocks noGrp="1"/>
          </p:cNvSpPr>
          <p:nvPr/>
        </p:nvSpPr>
        <p:spPr>
          <a:xfrm>
            <a:off x="5953125" y="2228850"/>
            <a:ext cx="5429250" cy="304800"/>
          </a:xfrm>
          <a:prstGeom prst="rect">
            <a:avLst/>
          </a:prstGeom>
          <a:noFill/>
          <a:ln w="0">
            <a:noFill/>
          </a:ln>
        </p:spPr>
        <p:txBody>
          <a:bodyPr lIns="0" tIns="0" rIns="0" bIns="0" anchor="ctr">
            <a:noAutofit/>
          </a:bodyPr>
          <a:lstStyle/>
          <a:p>
            <a:pPr algn="l">
              <a:defRPr sz="1500" b="1">
                <a:solidFill>
                  <a:srgbClr val="087F8C"/>
                </a:solidFill>
                <a:latin typeface="DejaVu Sans"/>
                <a:ea typeface="DejaVu Sans"/>
                <a:cs typeface="DejaVu Sans"/>
              </a:defRPr>
            </a:pPr>
            <a:r>
              <a:rPr sz="1500" b="1" dirty="0">
                <a:solidFill>
                  <a:srgbClr val="087F8C"/>
                </a:solidFill>
                <a:latin typeface="DejaVu Sans"/>
                <a:ea typeface="DejaVu Sans"/>
                <a:cs typeface="DejaVu Sans"/>
              </a:rPr>
              <a:t>ON / WITH THE TURTLEBOT</a:t>
            </a:r>
          </a:p>
        </p:txBody>
      </p:sp>
      <p:sp>
        <p:nvSpPr>
          <p:cNvPr id="8" name="Rectangle 7">
            <a:extLst>
              <a:ext uri="{FF2B5EF4-FFF2-40B4-BE49-F238E27FC236}">
                <a16:creationId xmlns:a16="http://schemas.microsoft.com/office/drawing/2014/main" id="{00000004-0008-4000-8000-000000000000}"/>
              </a:ext>
            </a:extLst>
          </p:cNvPr>
          <p:cNvSpPr>
            <a:spLocks noGrp="1"/>
          </p:cNvSpPr>
          <p:nvPr/>
        </p:nvSpPr>
        <p:spPr>
          <a:xfrm>
            <a:off x="890587" y="3019422"/>
            <a:ext cx="1790700" cy="704850"/>
          </a:xfrm>
          <a:prstGeom prst="rect">
            <a:avLst/>
          </a:prstGeom>
          <a:solidFill>
            <a:srgbClr val="FFFFFF"/>
          </a:solidFill>
          <a:ln w="19050">
            <a:solidFill>
              <a:srgbClr val="C6D8E0"/>
            </a:solidFill>
          </a:ln>
        </p:spPr>
        <p:txBody>
          <a:bodyPr lIns="114300" tIns="76200" rIns="114300" bIns="76200" anchor="ctr">
            <a:noAutofit/>
          </a:bodyPr>
          <a:lstStyle/>
          <a:p>
            <a:pPr algn="ctr">
              <a:defRPr sz="1875" b="1">
                <a:solidFill>
                  <a:srgbClr val="12334A"/>
                </a:solidFill>
                <a:latin typeface="DejaVu Sans"/>
                <a:ea typeface="DejaVu Sans"/>
                <a:cs typeface="DejaVu Sans"/>
              </a:defRPr>
            </a:pPr>
            <a:r>
              <a:rPr lang="en-US" sz="1875" b="1" dirty="0">
                <a:solidFill>
                  <a:srgbClr val="12334A"/>
                </a:solidFill>
                <a:latin typeface="DejaVu Sans"/>
                <a:ea typeface="DejaVu Sans"/>
                <a:cs typeface="DejaVu Sans"/>
              </a:rPr>
              <a:t>Movement </a:t>
            </a:r>
            <a:r>
              <a:rPr lang="en-US" sz="2000" b="1" dirty="0">
                <a:solidFill>
                  <a:srgbClr val="12334A"/>
                </a:solidFill>
                <a:latin typeface="DejaVu Sans"/>
                <a:ea typeface="DejaVu Sans"/>
                <a:cs typeface="DejaVu Sans"/>
              </a:rPr>
              <a:t>sensor</a:t>
            </a:r>
            <a:endParaRPr sz="1875" b="1" dirty="0">
              <a:solidFill>
                <a:srgbClr val="12334A"/>
              </a:solidFill>
              <a:latin typeface="DejaVu Sans"/>
              <a:ea typeface="DejaVu Sans"/>
              <a:cs typeface="DejaVu Sans"/>
            </a:endParaRPr>
          </a:p>
        </p:txBody>
      </p:sp>
      <p:sp>
        <p:nvSpPr>
          <p:cNvPr id="9" name="Rectangle 8">
            <a:extLst>
              <a:ext uri="{FF2B5EF4-FFF2-40B4-BE49-F238E27FC236}">
                <a16:creationId xmlns:a16="http://schemas.microsoft.com/office/drawing/2014/main" id="{00000004-0009-4000-8000-000000000000}"/>
              </a:ext>
            </a:extLst>
          </p:cNvPr>
          <p:cNvSpPr>
            <a:spLocks noGrp="1"/>
          </p:cNvSpPr>
          <p:nvPr/>
        </p:nvSpPr>
        <p:spPr>
          <a:xfrm>
            <a:off x="890587" y="4057647"/>
            <a:ext cx="1790700" cy="800100"/>
          </a:xfrm>
          <a:prstGeom prst="rect">
            <a:avLst/>
          </a:prstGeom>
          <a:solidFill>
            <a:srgbClr val="FFFFFF"/>
          </a:solidFill>
          <a:ln w="19050">
            <a:solidFill>
              <a:srgbClr val="C6D8E0"/>
            </a:solidFill>
          </a:ln>
        </p:spPr>
        <p:txBody>
          <a:bodyPr lIns="114300" tIns="76200" rIns="114300" bIns="76200" anchor="ctr">
            <a:noAutofit/>
          </a:bodyPr>
          <a:lstStyle/>
          <a:p>
            <a:pPr algn="ctr">
              <a:defRPr sz="1725" b="1">
                <a:solidFill>
                  <a:srgbClr val="12334A"/>
                </a:solidFill>
                <a:latin typeface="DejaVu Sans"/>
                <a:ea typeface="DejaVu Sans"/>
                <a:cs typeface="DejaVu Sans"/>
              </a:defRPr>
            </a:pPr>
            <a:r>
              <a:rPr lang="en-US" sz="1725" b="1" dirty="0">
                <a:solidFill>
                  <a:srgbClr val="12334A"/>
                </a:solidFill>
                <a:latin typeface="DejaVu Sans"/>
                <a:ea typeface="DejaVu Sans"/>
                <a:cs typeface="DejaVu Sans"/>
              </a:rPr>
              <a:t>Heart rate</a:t>
            </a:r>
            <a:endParaRPr sz="1725" b="1" dirty="0">
              <a:solidFill>
                <a:srgbClr val="12334A"/>
              </a:solidFill>
              <a:latin typeface="DejaVu Sans"/>
              <a:ea typeface="DejaVu Sans"/>
              <a:cs typeface="DejaVu Sans"/>
            </a:endParaRPr>
          </a:p>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sensor</a:t>
            </a:r>
          </a:p>
        </p:txBody>
      </p:sp>
      <p:sp>
        <p:nvSpPr>
          <p:cNvPr id="10" name="Rectangle 9">
            <a:extLst>
              <a:ext uri="{FF2B5EF4-FFF2-40B4-BE49-F238E27FC236}">
                <a16:creationId xmlns:a16="http://schemas.microsoft.com/office/drawing/2014/main" id="{00000004-000A-4000-8000-000000000000}"/>
              </a:ext>
            </a:extLst>
          </p:cNvPr>
          <p:cNvSpPr>
            <a:spLocks noGrp="1"/>
          </p:cNvSpPr>
          <p:nvPr/>
        </p:nvSpPr>
        <p:spPr>
          <a:xfrm>
            <a:off x="2928937" y="3467097"/>
            <a:ext cx="1495425" cy="971550"/>
          </a:xfrm>
          <a:prstGeom prst="rect">
            <a:avLst/>
          </a:prstGeom>
          <a:solidFill>
            <a:srgbClr val="DDF3F0"/>
          </a:solidFill>
          <a:ln w="19050">
            <a:solidFill>
              <a:srgbClr val="C6D8E0"/>
            </a:solidFill>
          </a:ln>
        </p:spPr>
        <p:txBody>
          <a:bodyPr lIns="114300" tIns="76200" rIns="114300" bIns="76200" anchor="ctr">
            <a:noAutofit/>
          </a:bodyPr>
          <a:lstStyle/>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Wearable</a:t>
            </a:r>
          </a:p>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controller</a:t>
            </a:r>
          </a:p>
        </p:txBody>
      </p:sp>
      <p:cxnSp>
        <p:nvCxnSpPr>
          <p:cNvPr id="11" name="Elbow Connector 10"/>
          <p:cNvCxnSpPr>
            <a:cxnSpLocks/>
            <a:stCxn id="8" idx="3"/>
            <a:endCxn id="10" idx="1"/>
          </p:cNvCxnSpPr>
          <p:nvPr/>
        </p:nvCxnSpPr>
        <p:spPr>
          <a:xfrm>
            <a:off x="2681287" y="3371847"/>
            <a:ext cx="247650" cy="581025"/>
          </a:xfrm>
          <a:prstGeom prst="bentConnector3">
            <a:avLst>
              <a:gd name="adj1" fmla="val 50000"/>
            </a:avLst>
          </a:prstGeom>
          <a:ln w="28575">
            <a:solidFill>
              <a:srgbClr val="087F8C"/>
            </a:solidFill>
            <a:tailEnd type="triangle" w="med" len="med"/>
          </a:ln>
        </p:spPr>
      </p:cxnSp>
      <p:cxnSp>
        <p:nvCxnSpPr>
          <p:cNvPr id="12" name="Elbow Connector 11"/>
          <p:cNvCxnSpPr>
            <a:cxnSpLocks/>
            <a:stCxn id="9" idx="3"/>
            <a:endCxn id="10" idx="1"/>
          </p:cNvCxnSpPr>
          <p:nvPr/>
        </p:nvCxnSpPr>
        <p:spPr>
          <a:xfrm flipV="1">
            <a:off x="2681287" y="3952872"/>
            <a:ext cx="247650" cy="504825"/>
          </a:xfrm>
          <a:prstGeom prst="bentConnector3">
            <a:avLst>
              <a:gd name="adj1" fmla="val 50000"/>
            </a:avLst>
          </a:prstGeom>
          <a:ln w="28575">
            <a:solidFill>
              <a:srgbClr val="087F8C"/>
            </a:solidFill>
            <a:tailEnd type="triangle" w="med" len="med"/>
          </a:ln>
        </p:spPr>
      </p:cxnSp>
      <p:sp>
        <p:nvSpPr>
          <p:cNvPr id="13" name="Rectangle 12">
            <a:extLst>
              <a:ext uri="{FF2B5EF4-FFF2-40B4-BE49-F238E27FC236}">
                <a16:creationId xmlns:a16="http://schemas.microsoft.com/office/drawing/2014/main" id="{00000004-000B-4000-8000-000000000000}"/>
              </a:ext>
            </a:extLst>
          </p:cNvPr>
          <p:cNvSpPr>
            <a:spLocks noGrp="1"/>
          </p:cNvSpPr>
          <p:nvPr/>
        </p:nvSpPr>
        <p:spPr>
          <a:xfrm>
            <a:off x="5953125" y="3467097"/>
            <a:ext cx="1514475" cy="971550"/>
          </a:xfrm>
          <a:prstGeom prst="rect">
            <a:avLst/>
          </a:prstGeom>
          <a:solidFill>
            <a:srgbClr val="FFFFFF"/>
          </a:solidFill>
          <a:ln w="19050">
            <a:solidFill>
              <a:srgbClr val="C6D8E0"/>
            </a:solidFill>
          </a:ln>
        </p:spPr>
        <p:txBody>
          <a:bodyPr lIns="114300" tIns="76200" rIns="114300" bIns="76200" anchor="ctr">
            <a:noAutofit/>
          </a:bodyPr>
          <a:lstStyle/>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Bluetooth</a:t>
            </a:r>
          </a:p>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receiver</a:t>
            </a:r>
          </a:p>
        </p:txBody>
      </p:sp>
      <p:cxnSp>
        <p:nvCxnSpPr>
          <p:cNvPr id="14" name="Straight Arrow Connector 13"/>
          <p:cNvCxnSpPr>
            <a:stCxn id="10" idx="3"/>
            <a:endCxn id="13" idx="1"/>
          </p:cNvCxnSpPr>
          <p:nvPr/>
        </p:nvCxnSpPr>
        <p:spPr>
          <a:xfrm>
            <a:off x="4424362" y="3952872"/>
            <a:ext cx="1528763" cy="0"/>
          </a:xfrm>
          <a:prstGeom prst="straightConnector1">
            <a:avLst/>
          </a:prstGeom>
          <a:ln w="28575">
            <a:solidFill>
              <a:srgbClr val="087F8C"/>
            </a:solidFill>
            <a:tailEnd type="triangle" w="med" len="med"/>
          </a:ln>
        </p:spPr>
      </p:cxnSp>
      <p:sp>
        <p:nvSpPr>
          <p:cNvPr id="15" name="Rectangle 14">
            <a:extLst>
              <a:ext uri="{FF2B5EF4-FFF2-40B4-BE49-F238E27FC236}">
                <a16:creationId xmlns:a16="http://schemas.microsoft.com/office/drawing/2014/main" id="{00000004-000C-4000-8000-000000000000}"/>
              </a:ext>
            </a:extLst>
          </p:cNvPr>
          <p:cNvSpPr>
            <a:spLocks noGrp="1"/>
          </p:cNvSpPr>
          <p:nvPr/>
        </p:nvSpPr>
        <p:spPr>
          <a:xfrm>
            <a:off x="4448175" y="2838450"/>
            <a:ext cx="1200150" cy="304800"/>
          </a:xfrm>
          <a:prstGeom prst="rect">
            <a:avLst/>
          </a:prstGeom>
          <a:noFill/>
          <a:ln w="0">
            <a:noFill/>
          </a:ln>
        </p:spPr>
        <p:txBody>
          <a:bodyPr lIns="0" tIns="0" rIns="0" bIns="0" anchor="ctr">
            <a:noAutofit/>
          </a:bodyPr>
          <a:lstStyle/>
          <a:p>
            <a:pPr algn="ctr">
              <a:defRPr sz="1575" b="1">
                <a:solidFill>
                  <a:srgbClr val="087F8C"/>
                </a:solidFill>
                <a:latin typeface="DejaVu Sans"/>
                <a:ea typeface="DejaVu Sans"/>
                <a:cs typeface="DejaVu Sans"/>
              </a:defRPr>
            </a:pPr>
            <a:r>
              <a:rPr sz="1575" b="1" dirty="0">
                <a:solidFill>
                  <a:srgbClr val="087F8C"/>
                </a:solidFill>
                <a:latin typeface="DejaVu Sans"/>
                <a:ea typeface="DejaVu Sans"/>
                <a:cs typeface="DejaVu Sans"/>
              </a:rPr>
              <a:t>Bluetooth</a:t>
            </a:r>
          </a:p>
        </p:txBody>
      </p:sp>
      <p:sp>
        <p:nvSpPr>
          <p:cNvPr id="17" name="Rectangle 16">
            <a:extLst>
              <a:ext uri="{FF2B5EF4-FFF2-40B4-BE49-F238E27FC236}">
                <a16:creationId xmlns:a16="http://schemas.microsoft.com/office/drawing/2014/main" id="{00000004-000E-4000-8000-000000000000}"/>
              </a:ext>
            </a:extLst>
          </p:cNvPr>
          <p:cNvSpPr>
            <a:spLocks noGrp="1"/>
          </p:cNvSpPr>
          <p:nvPr/>
        </p:nvSpPr>
        <p:spPr>
          <a:xfrm>
            <a:off x="7858125" y="3467097"/>
            <a:ext cx="1495425" cy="971550"/>
          </a:xfrm>
          <a:prstGeom prst="rect">
            <a:avLst/>
          </a:prstGeom>
          <a:solidFill>
            <a:srgbClr val="DDF3F0"/>
          </a:solidFill>
          <a:ln w="19050">
            <a:solidFill>
              <a:srgbClr val="C6D8E0"/>
            </a:solidFill>
          </a:ln>
        </p:spPr>
        <p:txBody>
          <a:bodyPr lIns="114300" tIns="76200" rIns="114300" bIns="76200" anchor="ctr">
            <a:noAutofit/>
          </a:bodyPr>
          <a:lstStyle/>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ROS 2</a:t>
            </a:r>
          </a:p>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simple rules</a:t>
            </a:r>
          </a:p>
        </p:txBody>
      </p:sp>
      <p:sp>
        <p:nvSpPr>
          <p:cNvPr id="18" name="Rectangle 17">
            <a:extLst>
              <a:ext uri="{FF2B5EF4-FFF2-40B4-BE49-F238E27FC236}">
                <a16:creationId xmlns:a16="http://schemas.microsoft.com/office/drawing/2014/main" id="{00000004-000F-4000-8000-000000000000}"/>
              </a:ext>
            </a:extLst>
          </p:cNvPr>
          <p:cNvSpPr>
            <a:spLocks noGrp="1"/>
          </p:cNvSpPr>
          <p:nvPr/>
        </p:nvSpPr>
        <p:spPr>
          <a:xfrm>
            <a:off x="9772650" y="3467097"/>
            <a:ext cx="1571625" cy="971550"/>
          </a:xfrm>
          <a:prstGeom prst="rect">
            <a:avLst/>
          </a:prstGeom>
          <a:solidFill>
            <a:srgbClr val="FFFFFF"/>
          </a:solidFill>
          <a:ln w="19050">
            <a:solidFill>
              <a:srgbClr val="C6D8E0"/>
            </a:solidFill>
          </a:ln>
        </p:spPr>
        <p:txBody>
          <a:bodyPr lIns="114300" tIns="76200" rIns="114300" bIns="76200" anchor="ctr">
            <a:noAutofit/>
          </a:bodyPr>
          <a:lstStyle/>
          <a:p>
            <a:pPr algn="ctr">
              <a:defRPr sz="1800" b="1">
                <a:solidFill>
                  <a:srgbClr val="12334A"/>
                </a:solidFill>
                <a:latin typeface="DejaVu Sans"/>
                <a:ea typeface="DejaVu Sans"/>
                <a:cs typeface="DejaVu Sans"/>
              </a:defRPr>
            </a:pPr>
            <a:r>
              <a:rPr sz="1800" b="1" dirty="0">
                <a:solidFill>
                  <a:srgbClr val="12334A"/>
                </a:solidFill>
                <a:latin typeface="DejaVu Sans"/>
                <a:ea typeface="DejaVu Sans"/>
                <a:cs typeface="DejaVu Sans"/>
              </a:rPr>
              <a:t>Voice</a:t>
            </a:r>
          </a:p>
          <a:p>
            <a:pPr algn="ctr">
              <a:defRPr sz="1800" b="1">
                <a:solidFill>
                  <a:srgbClr val="12334A"/>
                </a:solidFill>
                <a:latin typeface="DejaVu Sans"/>
                <a:ea typeface="DejaVu Sans"/>
                <a:cs typeface="DejaVu Sans"/>
              </a:defRPr>
            </a:pPr>
            <a:r>
              <a:rPr sz="1800" b="1" dirty="0">
                <a:solidFill>
                  <a:srgbClr val="12334A"/>
                </a:solidFill>
                <a:latin typeface="DejaVu Sans"/>
                <a:ea typeface="DejaVu Sans"/>
                <a:cs typeface="DejaVu Sans"/>
              </a:rPr>
              <a:t>output</a:t>
            </a:r>
          </a:p>
        </p:txBody>
      </p:sp>
      <p:cxnSp>
        <p:nvCxnSpPr>
          <p:cNvPr id="19" name="Straight Arrow Connector 18"/>
          <p:cNvCxnSpPr>
            <a:stCxn id="13" idx="3"/>
            <a:endCxn id="17" idx="1"/>
          </p:cNvCxnSpPr>
          <p:nvPr/>
        </p:nvCxnSpPr>
        <p:spPr>
          <a:xfrm>
            <a:off x="7467600" y="3952872"/>
            <a:ext cx="390525" cy="0"/>
          </a:xfrm>
          <a:prstGeom prst="straightConnector1">
            <a:avLst/>
          </a:prstGeom>
          <a:ln w="28575">
            <a:solidFill>
              <a:srgbClr val="087F8C"/>
            </a:solidFill>
            <a:tailEnd type="triangle" w="med" len="med"/>
          </a:ln>
        </p:spPr>
      </p:cxnSp>
      <p:cxnSp>
        <p:nvCxnSpPr>
          <p:cNvPr id="20" name="Straight Arrow Connector 19"/>
          <p:cNvCxnSpPr>
            <a:stCxn id="17" idx="3"/>
            <a:endCxn id="18" idx="1"/>
          </p:cNvCxnSpPr>
          <p:nvPr/>
        </p:nvCxnSpPr>
        <p:spPr>
          <a:xfrm>
            <a:off x="9353550" y="3952872"/>
            <a:ext cx="419100" cy="0"/>
          </a:xfrm>
          <a:prstGeom prst="straightConnector1">
            <a:avLst/>
          </a:prstGeom>
          <a:ln w="28575">
            <a:solidFill>
              <a:srgbClr val="087F8C"/>
            </a:solidFill>
            <a:tailEnd type="triangle" w="med" len="med"/>
          </a:ln>
        </p:spPr>
      </p:cxnSp>
      <p:sp>
        <p:nvSpPr>
          <p:cNvPr id="21" name="Rectangle 20">
            <a:extLst>
              <a:ext uri="{FF2B5EF4-FFF2-40B4-BE49-F238E27FC236}">
                <a16:creationId xmlns:a16="http://schemas.microsoft.com/office/drawing/2014/main" id="{00000004-0010-4000-8000-000000000000}"/>
              </a:ext>
            </a:extLst>
          </p:cNvPr>
          <p:cNvSpPr>
            <a:spLocks noGrp="1"/>
          </p:cNvSpPr>
          <p:nvPr/>
        </p:nvSpPr>
        <p:spPr>
          <a:xfrm>
            <a:off x="5953125" y="4562474"/>
            <a:ext cx="4382861" cy="466721"/>
          </a:xfrm>
          <a:prstGeom prst="rect">
            <a:avLst/>
          </a:prstGeom>
          <a:noFill/>
          <a:ln w="0">
            <a:noFill/>
          </a:ln>
        </p:spPr>
        <p:txBody>
          <a:bodyPr lIns="0" tIns="0" rIns="0" bIns="0" anchor="ctr">
            <a:noAutofit/>
          </a:bodyPr>
          <a:lstStyle/>
          <a:p>
            <a:pPr algn="ctr">
              <a:defRPr sz="1575" b="0">
                <a:solidFill>
                  <a:srgbClr val="527080"/>
                </a:solidFill>
                <a:latin typeface="DejaVu Sans"/>
                <a:ea typeface="DejaVu Sans"/>
                <a:cs typeface="DejaVu Sans"/>
              </a:defRPr>
            </a:pPr>
            <a:r>
              <a:rPr sz="1575" b="0" dirty="0">
                <a:solidFill>
                  <a:srgbClr val="527080"/>
                </a:solidFill>
                <a:latin typeface="DejaVu Sans"/>
                <a:ea typeface="DejaVu Sans"/>
                <a:cs typeface="DejaVu Sans"/>
              </a:rPr>
              <a:t>Repetitions + pace + heart-rate signal</a:t>
            </a:r>
          </a:p>
        </p:txBody>
      </p:sp>
      <p:sp>
        <p:nvSpPr>
          <p:cNvPr id="22" name="Rectangle 21">
            <a:extLst>
              <a:ext uri="{FF2B5EF4-FFF2-40B4-BE49-F238E27FC236}">
                <a16:creationId xmlns:a16="http://schemas.microsoft.com/office/drawing/2014/main" id="{00000004-0011-4000-8000-000000000000}"/>
              </a:ext>
            </a:extLst>
          </p:cNvPr>
          <p:cNvSpPr>
            <a:spLocks noGrp="1"/>
          </p:cNvSpPr>
          <p:nvPr/>
        </p:nvSpPr>
        <p:spPr>
          <a:xfrm>
            <a:off x="3228976" y="5962647"/>
            <a:ext cx="5514975" cy="609600"/>
          </a:xfrm>
          <a:prstGeom prst="rect">
            <a:avLst/>
          </a:prstGeom>
          <a:solidFill>
            <a:srgbClr val="DDF3F0"/>
          </a:solidFill>
          <a:ln w="19050">
            <a:solidFill>
              <a:srgbClr val="C6D8E0"/>
            </a:solidFill>
          </a:ln>
        </p:spPr>
        <p:txBody>
          <a:bodyPr lIns="114300" tIns="76200" rIns="114300" bIns="76200" anchor="ctr">
            <a:noAutofit/>
          </a:bodyPr>
          <a:lstStyle/>
          <a:p>
            <a:pPr algn="ctr">
              <a:defRPr sz="1875" b="1">
                <a:solidFill>
                  <a:srgbClr val="12334A"/>
                </a:solidFill>
                <a:latin typeface="DejaVu Sans"/>
                <a:ea typeface="DejaVu Sans"/>
                <a:cs typeface="DejaVu Sans"/>
              </a:defRPr>
            </a:pPr>
            <a:r>
              <a:rPr sz="1875" b="1" dirty="0">
                <a:solidFill>
                  <a:srgbClr val="12334A"/>
                </a:solidFill>
                <a:latin typeface="DejaVu Sans"/>
                <a:ea typeface="DejaVu Sans"/>
                <a:cs typeface="DejaVu Sans"/>
              </a:rPr>
              <a:t>User hears feedback and continues</a:t>
            </a:r>
          </a:p>
        </p:txBody>
      </p:sp>
      <p:cxnSp>
        <p:nvCxnSpPr>
          <p:cNvPr id="23" name="Elbow Connector 22"/>
          <p:cNvCxnSpPr>
            <a:stCxn id="18" idx="2"/>
            <a:endCxn id="22" idx="3"/>
          </p:cNvCxnSpPr>
          <p:nvPr/>
        </p:nvCxnSpPr>
        <p:spPr>
          <a:xfrm rot="5400000">
            <a:off x="8736807" y="4445791"/>
            <a:ext cx="1828800" cy="1814512"/>
          </a:xfrm>
          <a:prstGeom prst="bentConnector2">
            <a:avLst/>
          </a:prstGeom>
          <a:ln w="28575">
            <a:solidFill>
              <a:srgbClr val="087F8C"/>
            </a:solidFill>
            <a:tailEnd type="triangle" w="med" len="med"/>
          </a:ln>
        </p:spPr>
      </p:cxnSp>
      <p:sp>
        <p:nvSpPr>
          <p:cNvPr id="50" name="Rectangle 2">
            <a:extLst>
              <a:ext uri="{FF2B5EF4-FFF2-40B4-BE49-F238E27FC236}">
                <a16:creationId xmlns:a16="http://schemas.microsoft.com/office/drawing/2014/main" id="{00000003-0003-4000-8000-000000000000}"/>
              </a:ext>
            </a:extLst>
          </p:cNvPr>
          <p:cNvSpPr>
            <a:spLocks noGrp="1"/>
          </p:cNvSpPr>
          <p:nvPr/>
        </p:nvSpPr>
        <p:spPr>
          <a:xfrm>
            <a:off x="609600" y="1343025"/>
            <a:ext cx="10934700" cy="495300"/>
          </a:xfrm>
          <a:prstGeom prst="rect">
            <a:avLst/>
          </a:prstGeom>
          <a:noFill/>
          <a:ln w="0">
            <a:noFill/>
          </a:ln>
        </p:spPr>
        <p:txBody>
          <a:bodyPr lIns="0" tIns="0" rIns="0" bIns="0" anchor="ctr">
            <a:noAutofit/>
          </a:bodyPr>
          <a:lstStyle/>
          <a:p>
            <a:pPr algn="l">
              <a:defRPr sz="2250" b="0">
                <a:solidFill>
                  <a:srgbClr val="527080"/>
                </a:solidFill>
                <a:latin typeface="DejaVu Sans"/>
                <a:ea typeface="DejaVu Sans"/>
                <a:cs typeface="DejaVu Sans"/>
              </a:defRPr>
            </a:pPr>
            <a:r>
              <a:rPr sz="2250" b="0">
                <a:solidFill>
                  <a:srgbClr val="527080"/>
                </a:solidFill>
                <a:latin typeface="DejaVu Sans"/>
                <a:ea typeface="DejaVu Sans"/>
                <a:cs typeface="DejaVu Sans"/>
              </a:rPr>
              <a:t>The wearable measures. The robot guides.</a:t>
            </a:r>
          </a:p>
        </p:txBody>
      </p:sp>
    </p:spTree>
    <p:extLst>
      <p:ext uri="{BB962C8B-B14F-4D97-AF65-F5344CB8AC3E}">
        <p14:creationId xmlns:p14="http://schemas.microsoft.com/office/powerpoint/2010/main" val="40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0000005-0001-4000-8000-000000000000}"/>
              </a:ext>
            </a:extLst>
          </p:cNvPr>
          <p:cNvSpPr>
            <a:spLocks noGrp="1"/>
          </p:cNvSpPr>
          <p:nvPr/>
        </p:nvSpPr>
        <p:spPr>
          <a:xfrm>
            <a:off x="609600" y="438150"/>
            <a:ext cx="10972800" cy="800100"/>
          </a:xfrm>
          <a:prstGeom prst="rect">
            <a:avLst/>
          </a:prstGeom>
          <a:noFill/>
          <a:ln w="0">
            <a:noFill/>
          </a:ln>
        </p:spPr>
        <p:txBody>
          <a:bodyPr lIns="0" tIns="0" rIns="0" bIns="0" anchor="ctr">
            <a:noAutofit/>
          </a:bodyPr>
          <a:lstStyle/>
          <a:p>
            <a:pPr algn="l">
              <a:defRPr sz="3300" b="1">
                <a:solidFill>
                  <a:srgbClr val="12334A"/>
                </a:solidFill>
                <a:latin typeface="DejaVu Sans"/>
                <a:ea typeface="DejaVu Sans"/>
                <a:cs typeface="DejaVu Sans"/>
              </a:defRPr>
            </a:pPr>
            <a:r>
              <a:rPr sz="3300" b="1" dirty="0">
                <a:solidFill>
                  <a:srgbClr val="12334A"/>
                </a:solidFill>
                <a:latin typeface="DejaVu Sans"/>
                <a:ea typeface="DejaVu Sans"/>
                <a:cs typeface="DejaVu Sans"/>
              </a:rPr>
              <a:t>Example training session</a:t>
            </a:r>
          </a:p>
        </p:txBody>
      </p:sp>
      <p:sp>
        <p:nvSpPr>
          <p:cNvPr id="2" name="Rectangle 1">
            <a:extLst>
              <a:ext uri="{FF2B5EF4-FFF2-40B4-BE49-F238E27FC236}">
                <a16:creationId xmlns:a16="http://schemas.microsoft.com/office/drawing/2014/main" id="{00000005-0002-4000-8000-000000000000}"/>
              </a:ext>
            </a:extLst>
          </p:cNvPr>
          <p:cNvSpPr>
            <a:spLocks noGrp="1"/>
          </p:cNvSpPr>
          <p:nvPr/>
        </p:nvSpPr>
        <p:spPr>
          <a:xfrm>
            <a:off x="11096625" y="6315075"/>
            <a:ext cx="476250" cy="266700"/>
          </a:xfrm>
          <a:prstGeom prst="rect">
            <a:avLst/>
          </a:prstGeom>
          <a:noFill/>
          <a:ln w="0">
            <a:noFill/>
          </a:ln>
        </p:spPr>
        <p:txBody>
          <a:bodyPr lIns="0" tIns="0" rIns="0" bIns="0" anchor="ctr">
            <a:noAutofit/>
          </a:bodyPr>
          <a:lstStyle/>
          <a:p>
            <a:pPr algn="r">
              <a:defRPr sz="1350" b="0">
                <a:solidFill>
                  <a:srgbClr val="527080"/>
                </a:solidFill>
                <a:latin typeface="DejaVu Sans"/>
                <a:ea typeface="DejaVu Sans"/>
                <a:cs typeface="DejaVu Sans"/>
              </a:defRPr>
            </a:pPr>
            <a:r>
              <a:rPr lang="en-US" sz="1350" b="0">
                <a:solidFill>
                  <a:srgbClr val="527080"/>
                </a:solidFill>
                <a:latin typeface="DejaVu Sans"/>
                <a:ea typeface="DejaVu Sans"/>
                <a:cs typeface="DejaVu Sans"/>
              </a:rPr>
              <a:t>04</a:t>
            </a:r>
            <a:endParaRPr sz="1350" b="0">
              <a:solidFill>
                <a:srgbClr val="527080"/>
              </a:solidFill>
              <a:latin typeface="DejaVu Sans"/>
              <a:ea typeface="DejaVu Sans"/>
              <a:cs typeface="DejaVu Sans"/>
            </a:endParaRPr>
          </a:p>
        </p:txBody>
      </p:sp>
      <p:sp>
        <p:nvSpPr>
          <p:cNvPr id="3" name="Rectangle 2">
            <a:extLst>
              <a:ext uri="{FF2B5EF4-FFF2-40B4-BE49-F238E27FC236}">
                <a16:creationId xmlns:a16="http://schemas.microsoft.com/office/drawing/2014/main" id="{00000005-0003-4000-8000-000000000000}"/>
              </a:ext>
            </a:extLst>
          </p:cNvPr>
          <p:cNvSpPr>
            <a:spLocks noGrp="1"/>
          </p:cNvSpPr>
          <p:nvPr/>
        </p:nvSpPr>
        <p:spPr>
          <a:xfrm>
            <a:off x="0" y="1562100"/>
            <a:ext cx="4305300" cy="3726180"/>
          </a:xfrm>
          <a:prstGeom prst="rect">
            <a:avLst/>
          </a:prstGeom>
          <a:solidFill>
            <a:srgbClr val="12334A"/>
          </a:solidFill>
          <a:ln w="0">
            <a:noFill/>
          </a:ln>
        </p:spPr>
        <p:txBody>
          <a:bodyPr/>
          <a:lstStyle/>
          <a:p>
            <a:endParaRPr lang="en-US" dirty="0"/>
          </a:p>
        </p:txBody>
      </p:sp>
      <p:sp>
        <p:nvSpPr>
          <p:cNvPr id="4" name="Rectangle 3">
            <a:extLst>
              <a:ext uri="{FF2B5EF4-FFF2-40B4-BE49-F238E27FC236}">
                <a16:creationId xmlns:a16="http://schemas.microsoft.com/office/drawing/2014/main" id="{00000005-0004-4000-8000-000000000000}"/>
              </a:ext>
            </a:extLst>
          </p:cNvPr>
          <p:cNvSpPr>
            <a:spLocks noGrp="1"/>
          </p:cNvSpPr>
          <p:nvPr/>
        </p:nvSpPr>
        <p:spPr>
          <a:xfrm>
            <a:off x="609600" y="1859280"/>
            <a:ext cx="3086100" cy="335280"/>
          </a:xfrm>
          <a:prstGeom prst="rect">
            <a:avLst/>
          </a:prstGeom>
          <a:noFill/>
          <a:ln w="0">
            <a:noFill/>
          </a:ln>
        </p:spPr>
        <p:txBody>
          <a:bodyPr lIns="0" tIns="0" rIns="0" bIns="0" anchor="ctr">
            <a:noAutofit/>
          </a:bodyPr>
          <a:lstStyle/>
          <a:p>
            <a:pPr algn="l">
              <a:defRPr sz="1650" b="1">
                <a:solidFill>
                  <a:srgbClr val="82D8D0"/>
                </a:solidFill>
                <a:latin typeface="DejaVu Sans"/>
                <a:ea typeface="DejaVu Sans"/>
                <a:cs typeface="DejaVu Sans"/>
              </a:defRPr>
            </a:pPr>
            <a:r>
              <a:rPr lang="en-US" sz="1320" b="1">
                <a:solidFill>
                  <a:srgbClr val="82D8D0"/>
                </a:solidFill>
                <a:latin typeface="DejaVu Sans"/>
                <a:ea typeface="DejaVu Sans"/>
                <a:cs typeface="DejaVu Sans"/>
              </a:rPr>
              <a:t>ARM REACHING</a:t>
            </a:r>
          </a:p>
        </p:txBody>
      </p:sp>
      <p:sp>
        <p:nvSpPr>
          <p:cNvPr id="5" name="Rectangle 4">
            <a:extLst>
              <a:ext uri="{FF2B5EF4-FFF2-40B4-BE49-F238E27FC236}">
                <a16:creationId xmlns:a16="http://schemas.microsoft.com/office/drawing/2014/main" id="{00000005-0005-4000-8000-000000000000}"/>
              </a:ext>
            </a:extLst>
          </p:cNvPr>
          <p:cNvSpPr>
            <a:spLocks noGrp="1"/>
          </p:cNvSpPr>
          <p:nvPr/>
        </p:nvSpPr>
        <p:spPr>
          <a:xfrm>
            <a:off x="609600" y="2301240"/>
            <a:ext cx="3086100" cy="1188720"/>
          </a:xfrm>
          <a:prstGeom prst="rect">
            <a:avLst/>
          </a:prstGeom>
          <a:noFill/>
          <a:ln w="0">
            <a:noFill/>
          </a:ln>
        </p:spPr>
        <p:txBody>
          <a:bodyPr lIns="0" tIns="0" rIns="0" bIns="0" anchor="ctr">
            <a:noAutofit/>
          </a:bodyPr>
          <a:lstStyle/>
          <a:p>
            <a:pPr algn="l">
              <a:defRPr sz="9900" b="1">
                <a:solidFill>
                  <a:srgbClr val="FFFFFF"/>
                </a:solidFill>
                <a:latin typeface="DejaVu Sans"/>
                <a:ea typeface="DejaVu Sans"/>
                <a:cs typeface="DejaVu Sans"/>
              </a:defRPr>
            </a:pPr>
            <a:r>
              <a:rPr lang="en-US" sz="7920" b="1">
                <a:solidFill>
                  <a:srgbClr val="FFFFFF"/>
                </a:solidFill>
                <a:latin typeface="DejaVu Sans"/>
                <a:ea typeface="DejaVu Sans"/>
                <a:cs typeface="DejaVu Sans"/>
              </a:rPr>
              <a:t>5</a:t>
            </a:r>
          </a:p>
        </p:txBody>
      </p:sp>
      <p:sp>
        <p:nvSpPr>
          <p:cNvPr id="6" name="Rectangle 5">
            <a:extLst>
              <a:ext uri="{FF2B5EF4-FFF2-40B4-BE49-F238E27FC236}">
                <a16:creationId xmlns:a16="http://schemas.microsoft.com/office/drawing/2014/main" id="{00000005-0006-4000-8000-000000000000}"/>
              </a:ext>
            </a:extLst>
          </p:cNvPr>
          <p:cNvSpPr>
            <a:spLocks noGrp="1"/>
          </p:cNvSpPr>
          <p:nvPr/>
        </p:nvSpPr>
        <p:spPr>
          <a:xfrm>
            <a:off x="638175" y="3505200"/>
            <a:ext cx="3086100" cy="365760"/>
          </a:xfrm>
          <a:prstGeom prst="rect">
            <a:avLst/>
          </a:prstGeom>
          <a:noFill/>
          <a:ln w="0">
            <a:noFill/>
          </a:ln>
        </p:spPr>
        <p:txBody>
          <a:bodyPr lIns="0" tIns="0" rIns="0" bIns="0" anchor="ctr">
            <a:noAutofit/>
          </a:bodyPr>
          <a:lstStyle/>
          <a:p>
            <a:pPr algn="l">
              <a:defRPr sz="2700" b="0">
                <a:solidFill>
                  <a:srgbClr val="FFFFFF"/>
                </a:solidFill>
                <a:latin typeface="DejaVu Sans"/>
                <a:ea typeface="DejaVu Sans"/>
                <a:cs typeface="DejaVu Sans"/>
              </a:defRPr>
            </a:pPr>
            <a:r>
              <a:rPr lang="en-US" sz="2160" b="0">
                <a:solidFill>
                  <a:srgbClr val="FFFFFF"/>
                </a:solidFill>
                <a:latin typeface="DejaVu Sans"/>
                <a:ea typeface="DejaVu Sans"/>
                <a:cs typeface="DejaVu Sans"/>
              </a:rPr>
              <a:t>repetitions</a:t>
            </a:r>
          </a:p>
        </p:txBody>
      </p:sp>
      <p:sp>
        <p:nvSpPr>
          <p:cNvPr id="7" name="Rectangle 6">
            <a:extLst>
              <a:ext uri="{FF2B5EF4-FFF2-40B4-BE49-F238E27FC236}">
                <a16:creationId xmlns:a16="http://schemas.microsoft.com/office/drawing/2014/main" id="{00000005-0007-4000-8000-000000000000}"/>
              </a:ext>
            </a:extLst>
          </p:cNvPr>
          <p:cNvSpPr>
            <a:spLocks noGrp="1"/>
          </p:cNvSpPr>
          <p:nvPr/>
        </p:nvSpPr>
        <p:spPr>
          <a:xfrm>
            <a:off x="638175" y="4183380"/>
            <a:ext cx="3133725" cy="792480"/>
          </a:xfrm>
          <a:prstGeom prst="rect">
            <a:avLst/>
          </a:prstGeom>
          <a:noFill/>
          <a:ln w="0">
            <a:noFill/>
          </a:ln>
        </p:spPr>
        <p:txBody>
          <a:bodyPr lIns="0" tIns="0" rIns="0" bIns="0" anchor="ctr">
            <a:noAutofit/>
          </a:bodyPr>
          <a:lstStyle/>
          <a:p>
            <a:pPr algn="l">
              <a:defRPr sz="2175" b="0">
                <a:solidFill>
                  <a:srgbClr val="FFFFFF"/>
                </a:solidFill>
                <a:latin typeface="DejaVu Sans"/>
                <a:ea typeface="DejaVu Sans"/>
                <a:cs typeface="DejaVu Sans"/>
              </a:defRPr>
            </a:pPr>
            <a:r>
              <a:rPr lang="en-US" sz="1740" b="0">
                <a:solidFill>
                  <a:srgbClr val="FFFFFF"/>
                </a:solidFill>
                <a:latin typeface="DejaVu Sans"/>
                <a:ea typeface="DejaVu Sans"/>
                <a:cs typeface="DejaVu Sans"/>
              </a:rPr>
              <a:t>“Reach your arm</a:t>
            </a:r>
          </a:p>
          <a:p>
            <a:pPr algn="l">
              <a:defRPr sz="2175" b="0">
                <a:solidFill>
                  <a:srgbClr val="FFFFFF"/>
                </a:solidFill>
                <a:latin typeface="DejaVu Sans"/>
                <a:ea typeface="DejaVu Sans"/>
                <a:cs typeface="DejaVu Sans"/>
              </a:defRPr>
            </a:pPr>
            <a:r>
              <a:rPr lang="en-US" sz="1740" b="0">
                <a:solidFill>
                  <a:srgbClr val="FFFFFF"/>
                </a:solidFill>
                <a:latin typeface="DejaVu Sans"/>
                <a:ea typeface="DejaVu Sans"/>
                <a:cs typeface="DejaVu Sans"/>
              </a:rPr>
              <a:t>forward five times.”</a:t>
            </a:r>
          </a:p>
        </p:txBody>
      </p:sp>
      <p:sp>
        <p:nvSpPr>
          <p:cNvPr id="8" name="Rectangle 7">
            <a:extLst>
              <a:ext uri="{FF2B5EF4-FFF2-40B4-BE49-F238E27FC236}">
                <a16:creationId xmlns:a16="http://schemas.microsoft.com/office/drawing/2014/main" id="{00000005-0008-4000-8000-000000000000}"/>
              </a:ext>
            </a:extLst>
          </p:cNvPr>
          <p:cNvSpPr>
            <a:spLocks noGrp="1"/>
          </p:cNvSpPr>
          <p:nvPr/>
        </p:nvSpPr>
        <p:spPr>
          <a:xfrm>
            <a:off x="4733925" y="1805940"/>
            <a:ext cx="400050" cy="335280"/>
          </a:xfrm>
          <a:prstGeom prst="rect">
            <a:avLst/>
          </a:prstGeom>
          <a:noFill/>
          <a:ln w="0">
            <a:noFill/>
          </a:ln>
        </p:spPr>
        <p:txBody>
          <a:bodyPr lIns="0" tIns="0" rIns="0" bIns="0" anchor="ctr">
            <a:noAutofit/>
          </a:bodyPr>
          <a:lstStyle/>
          <a:p>
            <a:pPr algn="l">
              <a:defRPr sz="2175" b="1">
                <a:solidFill>
                  <a:srgbClr val="087F8C"/>
                </a:solidFill>
                <a:latin typeface="DejaVu Sans"/>
                <a:ea typeface="DejaVu Sans"/>
                <a:cs typeface="DejaVu Sans"/>
              </a:defRPr>
            </a:pPr>
            <a:r>
              <a:rPr lang="en-US" sz="1740" b="1">
                <a:solidFill>
                  <a:srgbClr val="087F8C"/>
                </a:solidFill>
                <a:latin typeface="DejaVu Sans"/>
                <a:ea typeface="DejaVu Sans"/>
                <a:cs typeface="DejaVu Sans"/>
              </a:rPr>
              <a:t>1</a:t>
            </a:r>
          </a:p>
        </p:txBody>
      </p:sp>
      <p:sp>
        <p:nvSpPr>
          <p:cNvPr id="9" name="Rectangle 8">
            <a:extLst>
              <a:ext uri="{FF2B5EF4-FFF2-40B4-BE49-F238E27FC236}">
                <a16:creationId xmlns:a16="http://schemas.microsoft.com/office/drawing/2014/main" id="{00000005-0009-4000-8000-000000000000}"/>
              </a:ext>
            </a:extLst>
          </p:cNvPr>
          <p:cNvSpPr>
            <a:spLocks noGrp="1"/>
          </p:cNvSpPr>
          <p:nvPr/>
        </p:nvSpPr>
        <p:spPr>
          <a:xfrm>
            <a:off x="5276850" y="1805940"/>
            <a:ext cx="6200775" cy="335280"/>
          </a:xfrm>
          <a:prstGeom prst="rect">
            <a:avLst/>
          </a:prstGeom>
          <a:noFill/>
          <a:ln w="0">
            <a:noFill/>
          </a:ln>
        </p:spPr>
        <p:txBody>
          <a:bodyPr lIns="0" tIns="0" rIns="0" bIns="0" anchor="ctr">
            <a:noAutofit/>
          </a:bodyPr>
          <a:lstStyle/>
          <a:p>
            <a:pPr algn="l">
              <a:defRPr sz="2100" b="1">
                <a:solidFill>
                  <a:srgbClr val="12334A"/>
                </a:solidFill>
                <a:latin typeface="DejaVu Sans"/>
                <a:ea typeface="DejaVu Sans"/>
                <a:cs typeface="DejaVu Sans"/>
              </a:defRPr>
            </a:pPr>
            <a:r>
              <a:rPr lang="en-US" sz="1680" b="1">
                <a:solidFill>
                  <a:srgbClr val="12334A"/>
                </a:solidFill>
                <a:latin typeface="DejaVu Sans"/>
                <a:ea typeface="DejaVu Sans"/>
                <a:cs typeface="DejaVu Sans"/>
              </a:rPr>
              <a:t>User performs the reach</a:t>
            </a:r>
          </a:p>
        </p:txBody>
      </p:sp>
      <p:sp>
        <p:nvSpPr>
          <p:cNvPr id="10" name="Rectangle 9">
            <a:extLst>
              <a:ext uri="{FF2B5EF4-FFF2-40B4-BE49-F238E27FC236}">
                <a16:creationId xmlns:a16="http://schemas.microsoft.com/office/drawing/2014/main" id="{00000005-000A-4000-8000-000000000000}"/>
              </a:ext>
            </a:extLst>
          </p:cNvPr>
          <p:cNvSpPr>
            <a:spLocks noGrp="1"/>
          </p:cNvSpPr>
          <p:nvPr/>
        </p:nvSpPr>
        <p:spPr>
          <a:xfrm>
            <a:off x="4733925" y="2362200"/>
            <a:ext cx="400050" cy="335280"/>
          </a:xfrm>
          <a:prstGeom prst="rect">
            <a:avLst/>
          </a:prstGeom>
          <a:noFill/>
          <a:ln w="0">
            <a:noFill/>
          </a:ln>
        </p:spPr>
        <p:txBody>
          <a:bodyPr lIns="0" tIns="0" rIns="0" bIns="0" anchor="ctr">
            <a:noAutofit/>
          </a:bodyPr>
          <a:lstStyle/>
          <a:p>
            <a:pPr algn="l">
              <a:defRPr sz="2175" b="1">
                <a:solidFill>
                  <a:srgbClr val="087F8C"/>
                </a:solidFill>
                <a:latin typeface="DejaVu Sans"/>
                <a:ea typeface="DejaVu Sans"/>
                <a:cs typeface="DejaVu Sans"/>
              </a:defRPr>
            </a:pPr>
            <a:r>
              <a:rPr lang="en-US" sz="1740" b="1">
                <a:solidFill>
                  <a:srgbClr val="087F8C"/>
                </a:solidFill>
                <a:latin typeface="DejaVu Sans"/>
                <a:ea typeface="DejaVu Sans"/>
                <a:cs typeface="DejaVu Sans"/>
              </a:rPr>
              <a:t>2</a:t>
            </a:r>
          </a:p>
        </p:txBody>
      </p:sp>
      <p:sp>
        <p:nvSpPr>
          <p:cNvPr id="11" name="Rectangle 10">
            <a:extLst>
              <a:ext uri="{FF2B5EF4-FFF2-40B4-BE49-F238E27FC236}">
                <a16:creationId xmlns:a16="http://schemas.microsoft.com/office/drawing/2014/main" id="{00000005-000B-4000-8000-000000000000}"/>
              </a:ext>
            </a:extLst>
          </p:cNvPr>
          <p:cNvSpPr>
            <a:spLocks noGrp="1"/>
          </p:cNvSpPr>
          <p:nvPr/>
        </p:nvSpPr>
        <p:spPr>
          <a:xfrm>
            <a:off x="5276850" y="2362200"/>
            <a:ext cx="6200775" cy="335280"/>
          </a:xfrm>
          <a:prstGeom prst="rect">
            <a:avLst/>
          </a:prstGeom>
          <a:noFill/>
          <a:ln w="0">
            <a:noFill/>
          </a:ln>
        </p:spPr>
        <p:txBody>
          <a:bodyPr lIns="0" tIns="0" rIns="0" bIns="0" anchor="ctr">
            <a:noAutofit/>
          </a:bodyPr>
          <a:lstStyle/>
          <a:p>
            <a:pPr algn="l">
              <a:defRPr sz="2025" b="0">
                <a:solidFill>
                  <a:srgbClr val="12334A"/>
                </a:solidFill>
                <a:latin typeface="DejaVu Sans"/>
                <a:ea typeface="DejaVu Sans"/>
                <a:cs typeface="DejaVu Sans"/>
              </a:defRPr>
            </a:pPr>
            <a:r>
              <a:rPr lang="en-US" sz="1620" b="0" dirty="0">
                <a:solidFill>
                  <a:srgbClr val="12334A"/>
                </a:solidFill>
                <a:latin typeface="DejaVu Sans"/>
                <a:ea typeface="DejaVu Sans"/>
                <a:cs typeface="DejaVu Sans"/>
              </a:rPr>
              <a:t>Movement sensor tracks motion and repetitions</a:t>
            </a:r>
          </a:p>
        </p:txBody>
      </p:sp>
      <p:sp>
        <p:nvSpPr>
          <p:cNvPr id="12" name="Rectangle 11">
            <a:extLst>
              <a:ext uri="{FF2B5EF4-FFF2-40B4-BE49-F238E27FC236}">
                <a16:creationId xmlns:a16="http://schemas.microsoft.com/office/drawing/2014/main" id="{00000005-000C-4000-8000-000000000000}"/>
              </a:ext>
            </a:extLst>
          </p:cNvPr>
          <p:cNvSpPr>
            <a:spLocks noGrp="1"/>
          </p:cNvSpPr>
          <p:nvPr/>
        </p:nvSpPr>
        <p:spPr>
          <a:xfrm>
            <a:off x="4733925" y="2918460"/>
            <a:ext cx="400050" cy="335280"/>
          </a:xfrm>
          <a:prstGeom prst="rect">
            <a:avLst/>
          </a:prstGeom>
          <a:noFill/>
          <a:ln w="0">
            <a:noFill/>
          </a:ln>
        </p:spPr>
        <p:txBody>
          <a:bodyPr lIns="0" tIns="0" rIns="0" bIns="0" anchor="ctr">
            <a:noAutofit/>
          </a:bodyPr>
          <a:lstStyle/>
          <a:p>
            <a:pPr algn="l">
              <a:defRPr sz="2175" b="1">
                <a:solidFill>
                  <a:srgbClr val="087F8C"/>
                </a:solidFill>
                <a:latin typeface="DejaVu Sans"/>
                <a:ea typeface="DejaVu Sans"/>
                <a:cs typeface="DejaVu Sans"/>
              </a:defRPr>
            </a:pPr>
            <a:r>
              <a:rPr lang="en-US" sz="1740" b="1">
                <a:solidFill>
                  <a:srgbClr val="087F8C"/>
                </a:solidFill>
                <a:latin typeface="DejaVu Sans"/>
                <a:ea typeface="DejaVu Sans"/>
                <a:cs typeface="DejaVu Sans"/>
              </a:rPr>
              <a:t>3</a:t>
            </a:r>
          </a:p>
        </p:txBody>
      </p:sp>
      <p:sp>
        <p:nvSpPr>
          <p:cNvPr id="13" name="Rectangle 12">
            <a:extLst>
              <a:ext uri="{FF2B5EF4-FFF2-40B4-BE49-F238E27FC236}">
                <a16:creationId xmlns:a16="http://schemas.microsoft.com/office/drawing/2014/main" id="{00000005-000D-4000-8000-000000000000}"/>
              </a:ext>
            </a:extLst>
          </p:cNvPr>
          <p:cNvSpPr>
            <a:spLocks noGrp="1"/>
          </p:cNvSpPr>
          <p:nvPr/>
        </p:nvSpPr>
        <p:spPr>
          <a:xfrm>
            <a:off x="5276850" y="2918460"/>
            <a:ext cx="6200775" cy="335280"/>
          </a:xfrm>
          <a:prstGeom prst="rect">
            <a:avLst/>
          </a:prstGeom>
          <a:noFill/>
          <a:ln w="0">
            <a:noFill/>
          </a:ln>
        </p:spPr>
        <p:txBody>
          <a:bodyPr lIns="0" tIns="0" rIns="0" bIns="0" anchor="ctr">
            <a:noAutofit/>
          </a:bodyPr>
          <a:lstStyle/>
          <a:p>
            <a:pPr algn="l">
              <a:defRPr sz="2025" b="0">
                <a:solidFill>
                  <a:srgbClr val="12334A"/>
                </a:solidFill>
                <a:latin typeface="DejaVu Sans"/>
                <a:ea typeface="DejaVu Sans"/>
                <a:cs typeface="DejaVu Sans"/>
              </a:defRPr>
            </a:pPr>
            <a:r>
              <a:rPr lang="en-US" sz="1620" b="0" dirty="0">
                <a:solidFill>
                  <a:srgbClr val="12334A"/>
                </a:solidFill>
                <a:latin typeface="DejaVu Sans"/>
                <a:ea typeface="DejaVu Sans"/>
                <a:cs typeface="DejaVu Sans"/>
              </a:rPr>
              <a:t>System collects the heart-rate signal</a:t>
            </a:r>
          </a:p>
        </p:txBody>
      </p:sp>
      <p:sp>
        <p:nvSpPr>
          <p:cNvPr id="14" name="Rectangle 13">
            <a:extLst>
              <a:ext uri="{FF2B5EF4-FFF2-40B4-BE49-F238E27FC236}">
                <a16:creationId xmlns:a16="http://schemas.microsoft.com/office/drawing/2014/main" id="{00000005-000E-4000-8000-000000000000}"/>
              </a:ext>
            </a:extLst>
          </p:cNvPr>
          <p:cNvSpPr>
            <a:spLocks noGrp="1"/>
          </p:cNvSpPr>
          <p:nvPr/>
        </p:nvSpPr>
        <p:spPr>
          <a:xfrm>
            <a:off x="4733925" y="3474720"/>
            <a:ext cx="400050" cy="335280"/>
          </a:xfrm>
          <a:prstGeom prst="rect">
            <a:avLst/>
          </a:prstGeom>
          <a:noFill/>
          <a:ln w="0">
            <a:noFill/>
          </a:ln>
        </p:spPr>
        <p:txBody>
          <a:bodyPr lIns="0" tIns="0" rIns="0" bIns="0" anchor="ctr">
            <a:noAutofit/>
          </a:bodyPr>
          <a:lstStyle/>
          <a:p>
            <a:pPr algn="l">
              <a:defRPr sz="2175" b="1">
                <a:solidFill>
                  <a:srgbClr val="087F8C"/>
                </a:solidFill>
                <a:latin typeface="DejaVu Sans"/>
                <a:ea typeface="DejaVu Sans"/>
                <a:cs typeface="DejaVu Sans"/>
              </a:defRPr>
            </a:pPr>
            <a:r>
              <a:rPr lang="en-US" sz="1740" b="1">
                <a:solidFill>
                  <a:srgbClr val="087F8C"/>
                </a:solidFill>
                <a:latin typeface="DejaVu Sans"/>
                <a:ea typeface="DejaVu Sans"/>
                <a:cs typeface="DejaVu Sans"/>
              </a:rPr>
              <a:t>4</a:t>
            </a:r>
          </a:p>
        </p:txBody>
      </p:sp>
      <p:sp>
        <p:nvSpPr>
          <p:cNvPr id="15" name="Rectangle 14">
            <a:extLst>
              <a:ext uri="{FF2B5EF4-FFF2-40B4-BE49-F238E27FC236}">
                <a16:creationId xmlns:a16="http://schemas.microsoft.com/office/drawing/2014/main" id="{00000005-000F-4000-8000-000000000000}"/>
              </a:ext>
            </a:extLst>
          </p:cNvPr>
          <p:cNvSpPr>
            <a:spLocks noGrp="1"/>
          </p:cNvSpPr>
          <p:nvPr/>
        </p:nvSpPr>
        <p:spPr>
          <a:xfrm>
            <a:off x="5276850" y="3474720"/>
            <a:ext cx="6200775" cy="335280"/>
          </a:xfrm>
          <a:prstGeom prst="rect">
            <a:avLst/>
          </a:prstGeom>
          <a:noFill/>
          <a:ln w="0">
            <a:noFill/>
          </a:ln>
        </p:spPr>
        <p:txBody>
          <a:bodyPr lIns="0" tIns="0" rIns="0" bIns="0" anchor="ctr">
            <a:noAutofit/>
          </a:bodyPr>
          <a:lstStyle/>
          <a:p>
            <a:pPr algn="l">
              <a:defRPr sz="2025" b="0">
                <a:solidFill>
                  <a:srgbClr val="12334A"/>
                </a:solidFill>
                <a:latin typeface="DejaVu Sans"/>
                <a:ea typeface="DejaVu Sans"/>
                <a:cs typeface="DejaVu Sans"/>
              </a:defRPr>
            </a:pPr>
            <a:r>
              <a:rPr lang="en-US" sz="1620" b="0" dirty="0">
                <a:solidFill>
                  <a:srgbClr val="12334A"/>
                </a:solidFill>
                <a:latin typeface="DejaVu Sans"/>
                <a:ea typeface="DejaVu Sans"/>
                <a:cs typeface="DejaVu Sans"/>
              </a:rPr>
              <a:t>Simple rules select a response</a:t>
            </a:r>
          </a:p>
        </p:txBody>
      </p:sp>
      <p:sp>
        <p:nvSpPr>
          <p:cNvPr id="16" name="Rectangle 15">
            <a:extLst>
              <a:ext uri="{FF2B5EF4-FFF2-40B4-BE49-F238E27FC236}">
                <a16:creationId xmlns:a16="http://schemas.microsoft.com/office/drawing/2014/main" id="{00000005-0010-4000-8000-000000000000}"/>
              </a:ext>
            </a:extLst>
          </p:cNvPr>
          <p:cNvSpPr>
            <a:spLocks noGrp="1"/>
          </p:cNvSpPr>
          <p:nvPr/>
        </p:nvSpPr>
        <p:spPr>
          <a:xfrm>
            <a:off x="4752975" y="4015740"/>
            <a:ext cx="6724650" cy="15240"/>
          </a:xfrm>
          <a:prstGeom prst="rect">
            <a:avLst/>
          </a:prstGeom>
          <a:solidFill>
            <a:srgbClr val="C6D8E0"/>
          </a:solidFill>
          <a:ln w="0">
            <a:noFill/>
          </a:ln>
        </p:spPr>
        <p:txBody>
          <a:bodyPr/>
          <a:lstStyle/>
          <a:p>
            <a:endParaRPr lang="en-US"/>
          </a:p>
        </p:txBody>
      </p:sp>
      <p:sp>
        <p:nvSpPr>
          <p:cNvPr id="17" name="Rectangle 16">
            <a:extLst>
              <a:ext uri="{FF2B5EF4-FFF2-40B4-BE49-F238E27FC236}">
                <a16:creationId xmlns:a16="http://schemas.microsoft.com/office/drawing/2014/main" id="{00000005-0011-4000-8000-000000000000}"/>
              </a:ext>
            </a:extLst>
          </p:cNvPr>
          <p:cNvSpPr>
            <a:spLocks noGrp="1"/>
          </p:cNvSpPr>
          <p:nvPr/>
        </p:nvSpPr>
        <p:spPr>
          <a:xfrm>
            <a:off x="4733925" y="4229100"/>
            <a:ext cx="400050" cy="335280"/>
          </a:xfrm>
          <a:prstGeom prst="rect">
            <a:avLst/>
          </a:prstGeom>
          <a:noFill/>
          <a:ln w="0">
            <a:noFill/>
          </a:ln>
        </p:spPr>
        <p:txBody>
          <a:bodyPr lIns="0" tIns="0" rIns="0" bIns="0" anchor="ctr">
            <a:noAutofit/>
          </a:bodyPr>
          <a:lstStyle/>
          <a:p>
            <a:pPr algn="l">
              <a:defRPr sz="2175" b="1">
                <a:solidFill>
                  <a:srgbClr val="087F8C"/>
                </a:solidFill>
                <a:latin typeface="DejaVu Sans"/>
                <a:ea typeface="DejaVu Sans"/>
                <a:cs typeface="DejaVu Sans"/>
              </a:defRPr>
            </a:pPr>
            <a:r>
              <a:rPr lang="en-US" sz="1740" b="1">
                <a:solidFill>
                  <a:srgbClr val="087F8C"/>
                </a:solidFill>
                <a:latin typeface="DejaVu Sans"/>
                <a:ea typeface="DejaVu Sans"/>
                <a:cs typeface="DejaVu Sans"/>
              </a:rPr>
              <a:t>5</a:t>
            </a:r>
          </a:p>
        </p:txBody>
      </p:sp>
      <p:sp>
        <p:nvSpPr>
          <p:cNvPr id="18" name="Rectangle 17">
            <a:extLst>
              <a:ext uri="{FF2B5EF4-FFF2-40B4-BE49-F238E27FC236}">
                <a16:creationId xmlns:a16="http://schemas.microsoft.com/office/drawing/2014/main" id="{00000005-0012-4000-8000-000000000000}"/>
              </a:ext>
            </a:extLst>
          </p:cNvPr>
          <p:cNvSpPr>
            <a:spLocks noGrp="1"/>
          </p:cNvSpPr>
          <p:nvPr/>
        </p:nvSpPr>
        <p:spPr>
          <a:xfrm>
            <a:off x="5276850" y="4198620"/>
            <a:ext cx="6200775" cy="304800"/>
          </a:xfrm>
          <a:prstGeom prst="rect">
            <a:avLst/>
          </a:prstGeom>
          <a:noFill/>
          <a:ln w="0">
            <a:noFill/>
          </a:ln>
        </p:spPr>
        <p:txBody>
          <a:bodyPr lIns="0" tIns="0" rIns="0" bIns="0" anchor="ctr">
            <a:noAutofit/>
          </a:bodyPr>
          <a:lstStyle/>
          <a:p>
            <a:pPr algn="l">
              <a:defRPr sz="2100" b="1">
                <a:solidFill>
                  <a:srgbClr val="087F8C"/>
                </a:solidFill>
                <a:latin typeface="DejaVu Sans"/>
                <a:ea typeface="DejaVu Sans"/>
                <a:cs typeface="DejaVu Sans"/>
              </a:defRPr>
            </a:pPr>
            <a:r>
              <a:rPr lang="en-US" sz="1680" b="1">
                <a:solidFill>
                  <a:srgbClr val="087F8C"/>
                </a:solidFill>
                <a:latin typeface="DejaVu Sans"/>
                <a:ea typeface="DejaVu Sans"/>
                <a:cs typeface="DejaVu Sans"/>
              </a:rPr>
              <a:t>“Great, keep going!”</a:t>
            </a:r>
          </a:p>
        </p:txBody>
      </p:sp>
      <p:sp>
        <p:nvSpPr>
          <p:cNvPr id="19" name="Rectangle 18">
            <a:extLst>
              <a:ext uri="{FF2B5EF4-FFF2-40B4-BE49-F238E27FC236}">
                <a16:creationId xmlns:a16="http://schemas.microsoft.com/office/drawing/2014/main" id="{00000005-0013-4000-8000-000000000000}"/>
              </a:ext>
            </a:extLst>
          </p:cNvPr>
          <p:cNvSpPr>
            <a:spLocks noGrp="1"/>
          </p:cNvSpPr>
          <p:nvPr/>
        </p:nvSpPr>
        <p:spPr>
          <a:xfrm>
            <a:off x="5276850" y="4556760"/>
            <a:ext cx="6200775" cy="304800"/>
          </a:xfrm>
          <a:prstGeom prst="rect">
            <a:avLst/>
          </a:prstGeom>
          <a:noFill/>
          <a:ln w="0">
            <a:noFill/>
          </a:ln>
        </p:spPr>
        <p:txBody>
          <a:bodyPr lIns="0" tIns="0" rIns="0" bIns="0" anchor="ctr">
            <a:noAutofit/>
          </a:bodyPr>
          <a:lstStyle/>
          <a:p>
            <a:pPr algn="l">
              <a:defRPr sz="2100" b="0">
                <a:solidFill>
                  <a:srgbClr val="087F8C"/>
                </a:solidFill>
                <a:latin typeface="DejaVu Sans"/>
                <a:ea typeface="DejaVu Sans"/>
                <a:cs typeface="DejaVu Sans"/>
              </a:defRPr>
            </a:pPr>
            <a:r>
              <a:rPr lang="en-US" sz="1680" b="0">
                <a:solidFill>
                  <a:srgbClr val="087F8C"/>
                </a:solidFill>
                <a:latin typeface="DejaVu Sans"/>
                <a:ea typeface="DejaVu Sans"/>
                <a:cs typeface="DejaVu Sans"/>
              </a:rPr>
              <a:t>“Slow down a little.”</a:t>
            </a:r>
          </a:p>
        </p:txBody>
      </p:sp>
      <p:sp>
        <p:nvSpPr>
          <p:cNvPr id="20" name="Rectangle 19">
            <a:extLst>
              <a:ext uri="{FF2B5EF4-FFF2-40B4-BE49-F238E27FC236}">
                <a16:creationId xmlns:a16="http://schemas.microsoft.com/office/drawing/2014/main" id="{00000005-0014-4000-8000-000000000000}"/>
              </a:ext>
            </a:extLst>
          </p:cNvPr>
          <p:cNvSpPr>
            <a:spLocks noGrp="1"/>
          </p:cNvSpPr>
          <p:nvPr/>
        </p:nvSpPr>
        <p:spPr>
          <a:xfrm>
            <a:off x="5276850" y="4914900"/>
            <a:ext cx="6200775" cy="304800"/>
          </a:xfrm>
          <a:prstGeom prst="rect">
            <a:avLst/>
          </a:prstGeom>
          <a:noFill/>
          <a:ln w="0">
            <a:noFill/>
          </a:ln>
        </p:spPr>
        <p:txBody>
          <a:bodyPr lIns="0" tIns="0" rIns="0" bIns="0" anchor="ctr">
            <a:noAutofit/>
          </a:bodyPr>
          <a:lstStyle/>
          <a:p>
            <a:pPr algn="l">
              <a:defRPr sz="2100" b="0">
                <a:solidFill>
                  <a:srgbClr val="087F8C"/>
                </a:solidFill>
                <a:latin typeface="DejaVu Sans"/>
                <a:ea typeface="DejaVu Sans"/>
                <a:cs typeface="DejaVu Sans"/>
              </a:defRPr>
            </a:pPr>
            <a:r>
              <a:rPr lang="en-US" sz="1680" b="0">
                <a:solidFill>
                  <a:srgbClr val="087F8C"/>
                </a:solidFill>
                <a:latin typeface="DejaVu Sans"/>
                <a:ea typeface="DejaVu Sans"/>
                <a:cs typeface="DejaVu Sans"/>
              </a:rPr>
              <a:t>“Let’s take a short break.”</a:t>
            </a:r>
          </a:p>
        </p:txBody>
      </p:sp>
    </p:spTree>
    <p:extLst>
      <p:ext uri="{BB962C8B-B14F-4D97-AF65-F5344CB8AC3E}">
        <p14:creationId xmlns:p14="http://schemas.microsoft.com/office/powerpoint/2010/main" val="50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09600" y="438150"/>
            <a:ext cx="10972800" cy="800100"/>
          </a:xfrm>
          <a:prstGeom prst="rect">
            <a:avLst/>
          </a:prstGeom>
          <a:noFill/>
        </p:spPr>
        <p:txBody>
          <a:bodyPr wrap="square" lIns="0" tIns="0" rIns="0" bIns="0" anchor="ctr">
            <a:spAutoFit/>
          </a:bodyPr>
          <a:lstStyle/>
          <a:p>
            <a:pPr algn="l"/>
            <a:r>
              <a:rPr sz="3300" b="1">
                <a:solidFill>
                  <a:srgbClr val="12334A"/>
                </a:solidFill>
                <a:latin typeface="DejaVu Sans"/>
              </a:rPr>
              <a:t>Proof of Concept + Fabrication</a:t>
            </a:r>
          </a:p>
        </p:txBody>
      </p:sp>
      <p:sp>
        <p:nvSpPr>
          <p:cNvPr id="3" name="TextBox 2"/>
          <p:cNvSpPr txBox="1"/>
          <p:nvPr/>
        </p:nvSpPr>
        <p:spPr>
          <a:xfrm>
            <a:off x="609600" y="1666875"/>
            <a:ext cx="3714750" cy="342900"/>
          </a:xfrm>
          <a:prstGeom prst="rect">
            <a:avLst/>
          </a:prstGeom>
          <a:noFill/>
        </p:spPr>
        <p:txBody>
          <a:bodyPr wrap="square" lIns="0" tIns="0" rIns="0" bIns="0" anchor="ctr">
            <a:spAutoFit/>
          </a:bodyPr>
          <a:lstStyle/>
          <a:p>
            <a:pPr algn="l"/>
            <a:r>
              <a:rPr sz="1725" b="1">
                <a:solidFill>
                  <a:srgbClr val="087F8C"/>
                </a:solidFill>
                <a:latin typeface="DejaVu Sans"/>
              </a:rPr>
              <a:t>ONE EXERCISE</a:t>
            </a:r>
          </a:p>
        </p:txBody>
      </p:sp>
      <p:sp>
        <p:nvSpPr>
          <p:cNvPr id="4" name="TextBox 3"/>
          <p:cNvSpPr txBox="1"/>
          <p:nvPr/>
        </p:nvSpPr>
        <p:spPr>
          <a:xfrm>
            <a:off x="609600" y="2200275"/>
            <a:ext cx="3714750" cy="409575"/>
          </a:xfrm>
          <a:prstGeom prst="rect">
            <a:avLst/>
          </a:prstGeom>
          <a:noFill/>
        </p:spPr>
        <p:txBody>
          <a:bodyPr wrap="square" lIns="0" tIns="0" rIns="0" bIns="0" anchor="ctr">
            <a:spAutoFit/>
          </a:bodyPr>
          <a:lstStyle/>
          <a:p>
            <a:pPr algn="l"/>
            <a:r>
              <a:rPr sz="2250" b="1">
                <a:solidFill>
                  <a:srgbClr val="12334A"/>
                </a:solidFill>
                <a:latin typeface="DejaVu Sans"/>
              </a:rPr>
              <a:t>Initial demonstration</a:t>
            </a:r>
          </a:p>
        </p:txBody>
      </p:sp>
      <p:sp>
        <p:nvSpPr>
          <p:cNvPr id="5" name="TextBox 4"/>
          <p:cNvSpPr txBox="1"/>
          <p:nvPr/>
        </p:nvSpPr>
        <p:spPr>
          <a:xfrm>
            <a:off x="619125" y="3093131"/>
            <a:ext cx="4362449" cy="1500411"/>
          </a:xfrm>
          <a:prstGeom prst="rect">
            <a:avLst/>
          </a:prstGeom>
          <a:noFill/>
        </p:spPr>
        <p:txBody>
          <a:bodyPr wrap="square" lIns="0" tIns="0" rIns="0" bIns="0" anchor="ctr">
            <a:spAutoFit/>
          </a:bodyPr>
          <a:lstStyle/>
          <a:p>
            <a:pPr algn="l"/>
            <a:r>
              <a:rPr sz="1950" b="0" dirty="0">
                <a:solidFill>
                  <a:srgbClr val="12334A"/>
                </a:solidFill>
                <a:latin typeface="DejaVu Sans"/>
              </a:rPr>
              <a:t>TurtleBot 3 Burger</a:t>
            </a:r>
          </a:p>
          <a:p>
            <a:pPr algn="l"/>
            <a:r>
              <a:rPr sz="1950" b="0" dirty="0">
                <a:solidFill>
                  <a:srgbClr val="12334A"/>
                </a:solidFill>
                <a:latin typeface="DejaVu Sans"/>
              </a:rPr>
              <a:t>Wearable </a:t>
            </a:r>
            <a:r>
              <a:rPr lang="en-US" sz="1950" dirty="0">
                <a:solidFill>
                  <a:srgbClr val="12334A"/>
                </a:solidFill>
                <a:latin typeface="DejaVu Sans"/>
              </a:rPr>
              <a:t>movement</a:t>
            </a:r>
            <a:r>
              <a:rPr sz="1950" b="0" dirty="0">
                <a:solidFill>
                  <a:srgbClr val="12334A"/>
                </a:solidFill>
                <a:latin typeface="DejaVu Sans"/>
              </a:rPr>
              <a:t> + heart rate</a:t>
            </a:r>
          </a:p>
          <a:p>
            <a:pPr algn="l"/>
            <a:r>
              <a:rPr sz="1950" b="0" dirty="0">
                <a:solidFill>
                  <a:srgbClr val="12334A"/>
                </a:solidFill>
                <a:latin typeface="DejaVu Sans"/>
              </a:rPr>
              <a:t>Bluetooth communication</a:t>
            </a:r>
          </a:p>
          <a:p>
            <a:pPr algn="l"/>
            <a:r>
              <a:rPr sz="1950" b="0" dirty="0">
                <a:solidFill>
                  <a:srgbClr val="12334A"/>
                </a:solidFill>
                <a:latin typeface="DejaVu Sans"/>
              </a:rPr>
              <a:t>ROS 2 + simple rules</a:t>
            </a:r>
          </a:p>
          <a:p>
            <a:pPr algn="l"/>
            <a:r>
              <a:rPr sz="1950" b="0" dirty="0">
                <a:solidFill>
                  <a:srgbClr val="12334A"/>
                </a:solidFill>
                <a:latin typeface="DejaVu Sans"/>
              </a:rPr>
              <a:t>Voice feedback</a:t>
            </a:r>
          </a:p>
        </p:txBody>
      </p:sp>
      <p:sp>
        <p:nvSpPr>
          <p:cNvPr id="6" name="TextBox 5"/>
          <p:cNvSpPr txBox="1"/>
          <p:nvPr/>
        </p:nvSpPr>
        <p:spPr>
          <a:xfrm>
            <a:off x="609600" y="5372100"/>
            <a:ext cx="3905250" cy="342900"/>
          </a:xfrm>
          <a:prstGeom prst="rect">
            <a:avLst/>
          </a:prstGeom>
          <a:noFill/>
        </p:spPr>
        <p:txBody>
          <a:bodyPr wrap="square" lIns="0" tIns="0" rIns="0" bIns="0" anchor="ctr">
            <a:spAutoFit/>
          </a:bodyPr>
          <a:lstStyle/>
          <a:p>
            <a:pPr algn="l"/>
            <a:r>
              <a:rPr sz="1875" b="1">
                <a:solidFill>
                  <a:srgbClr val="087F8C"/>
                </a:solidFill>
                <a:latin typeface="DejaVu Sans"/>
              </a:rPr>
              <a:t>Demo goal</a:t>
            </a:r>
          </a:p>
        </p:txBody>
      </p:sp>
      <p:sp>
        <p:nvSpPr>
          <p:cNvPr id="7" name="TextBox 6"/>
          <p:cNvSpPr txBox="1"/>
          <p:nvPr/>
        </p:nvSpPr>
        <p:spPr>
          <a:xfrm>
            <a:off x="609600" y="5762625"/>
            <a:ext cx="4095750" cy="638175"/>
          </a:xfrm>
          <a:prstGeom prst="rect">
            <a:avLst/>
          </a:prstGeom>
          <a:noFill/>
        </p:spPr>
        <p:txBody>
          <a:bodyPr wrap="square" lIns="0" tIns="0" rIns="0" bIns="0" anchor="ctr">
            <a:spAutoFit/>
          </a:bodyPr>
          <a:lstStyle/>
          <a:p>
            <a:pPr algn="l"/>
            <a:r>
              <a:rPr sz="1875" b="0">
                <a:solidFill>
                  <a:srgbClr val="12334A"/>
                </a:solidFill>
                <a:latin typeface="DejaVu Sans"/>
              </a:rPr>
              <a:t>A measurement changes</a:t>
            </a:r>
          </a:p>
          <a:p>
            <a:pPr algn="l"/>
            <a:r>
              <a:rPr sz="1875" b="0">
                <a:solidFill>
                  <a:srgbClr val="12334A"/>
                </a:solidFill>
                <a:latin typeface="DejaVu Sans"/>
              </a:rPr>
              <a:t>the spoken response</a:t>
            </a:r>
          </a:p>
        </p:txBody>
      </p:sp>
      <p:cxnSp>
        <p:nvCxnSpPr>
          <p:cNvPr id="8" name="Connector 7"/>
          <p:cNvCxnSpPr/>
          <p:nvPr/>
        </p:nvCxnSpPr>
        <p:spPr>
          <a:xfrm>
            <a:off x="4953000" y="1666875"/>
            <a:ext cx="0" cy="4572000"/>
          </a:xfrm>
          <a:prstGeom prst="line">
            <a:avLst/>
          </a:prstGeom>
          <a:ln w="22860">
            <a:solidFill>
              <a:srgbClr val="C6D8E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76875" y="1666875"/>
            <a:ext cx="6096000" cy="342900"/>
          </a:xfrm>
          <a:prstGeom prst="rect">
            <a:avLst/>
          </a:prstGeom>
          <a:noFill/>
        </p:spPr>
        <p:txBody>
          <a:bodyPr wrap="square" lIns="0" tIns="0" rIns="0" bIns="0" anchor="ctr">
            <a:spAutoFit/>
          </a:bodyPr>
          <a:lstStyle/>
          <a:p>
            <a:pPr algn="l"/>
            <a:r>
              <a:rPr sz="1725" b="1">
                <a:solidFill>
                  <a:srgbClr val="087F8C"/>
                </a:solidFill>
                <a:latin typeface="DejaVu Sans"/>
              </a:rPr>
              <a:t>FABRICATION &amp; HARDWARE</a:t>
            </a:r>
          </a:p>
        </p:txBody>
      </p:sp>
      <p:sp>
        <p:nvSpPr>
          <p:cNvPr id="10" name="TextBox 9"/>
          <p:cNvSpPr txBox="1"/>
          <p:nvPr/>
        </p:nvSpPr>
        <p:spPr>
          <a:xfrm>
            <a:off x="5476875" y="2276475"/>
            <a:ext cx="6096000" cy="361950"/>
          </a:xfrm>
          <a:prstGeom prst="rect">
            <a:avLst/>
          </a:prstGeom>
          <a:noFill/>
        </p:spPr>
        <p:txBody>
          <a:bodyPr wrap="square" lIns="0" tIns="0" rIns="0" bIns="0" anchor="ctr">
            <a:spAutoFit/>
          </a:bodyPr>
          <a:lstStyle/>
          <a:p>
            <a:pPr algn="l"/>
            <a:r>
              <a:rPr sz="2025" b="1" dirty="0">
                <a:solidFill>
                  <a:srgbClr val="087F8C"/>
                </a:solidFill>
                <a:latin typeface="DejaVu Sans"/>
              </a:rPr>
              <a:t>Wearable enclosure</a:t>
            </a:r>
          </a:p>
        </p:txBody>
      </p:sp>
      <p:sp>
        <p:nvSpPr>
          <p:cNvPr id="11" name="TextBox 10"/>
          <p:cNvSpPr txBox="1"/>
          <p:nvPr/>
        </p:nvSpPr>
        <p:spPr>
          <a:xfrm>
            <a:off x="5476875" y="2727517"/>
            <a:ext cx="6096000" cy="288541"/>
          </a:xfrm>
          <a:prstGeom prst="rect">
            <a:avLst/>
          </a:prstGeom>
          <a:noFill/>
        </p:spPr>
        <p:txBody>
          <a:bodyPr wrap="square" lIns="0" tIns="0" rIns="0" bIns="0" anchor="ctr">
            <a:spAutoFit/>
          </a:bodyPr>
          <a:lstStyle/>
          <a:p>
            <a:pPr algn="l"/>
            <a:r>
              <a:rPr sz="1875" b="0" dirty="0">
                <a:solidFill>
                  <a:srgbClr val="12334A"/>
                </a:solidFill>
                <a:latin typeface="DejaVu Sans"/>
              </a:rPr>
              <a:t>Holds the </a:t>
            </a:r>
            <a:r>
              <a:rPr lang="en-US" sz="1875" b="0" dirty="0">
                <a:solidFill>
                  <a:srgbClr val="12334A"/>
                </a:solidFill>
                <a:latin typeface="DejaVu Sans"/>
              </a:rPr>
              <a:t>movement</a:t>
            </a:r>
            <a:r>
              <a:rPr sz="1875" b="0" dirty="0">
                <a:solidFill>
                  <a:srgbClr val="12334A"/>
                </a:solidFill>
                <a:latin typeface="DejaVu Sans"/>
              </a:rPr>
              <a:t> and heart-rate sensor</a:t>
            </a:r>
          </a:p>
        </p:txBody>
      </p:sp>
      <p:sp>
        <p:nvSpPr>
          <p:cNvPr id="12" name="TextBox 11"/>
          <p:cNvSpPr txBox="1"/>
          <p:nvPr/>
        </p:nvSpPr>
        <p:spPr>
          <a:xfrm>
            <a:off x="5476875" y="3248025"/>
            <a:ext cx="6096000" cy="361950"/>
          </a:xfrm>
          <a:prstGeom prst="rect">
            <a:avLst/>
          </a:prstGeom>
          <a:noFill/>
        </p:spPr>
        <p:txBody>
          <a:bodyPr wrap="square" lIns="0" tIns="0" rIns="0" bIns="0" anchor="ctr">
            <a:spAutoFit/>
          </a:bodyPr>
          <a:lstStyle/>
          <a:p>
            <a:pPr algn="l"/>
            <a:r>
              <a:rPr sz="2025" b="1" dirty="0">
                <a:solidFill>
                  <a:srgbClr val="087F8C"/>
                </a:solidFill>
                <a:latin typeface="DejaVu Sans"/>
              </a:rPr>
              <a:t>Adjustable attachment</a:t>
            </a:r>
          </a:p>
        </p:txBody>
      </p:sp>
      <p:sp>
        <p:nvSpPr>
          <p:cNvPr id="13" name="TextBox 12"/>
          <p:cNvSpPr txBox="1"/>
          <p:nvPr/>
        </p:nvSpPr>
        <p:spPr>
          <a:xfrm>
            <a:off x="5476875" y="3638550"/>
            <a:ext cx="6096000" cy="409575"/>
          </a:xfrm>
          <a:prstGeom prst="rect">
            <a:avLst/>
          </a:prstGeom>
          <a:noFill/>
        </p:spPr>
        <p:txBody>
          <a:bodyPr wrap="square" lIns="0" tIns="0" rIns="0" bIns="0" anchor="ctr">
            <a:spAutoFit/>
          </a:bodyPr>
          <a:lstStyle/>
          <a:p>
            <a:pPr algn="l"/>
            <a:r>
              <a:rPr sz="1875" b="0" dirty="0">
                <a:solidFill>
                  <a:srgbClr val="12334A"/>
                </a:solidFill>
                <a:latin typeface="DejaVu Sans"/>
              </a:rPr>
              <a:t>Comfortable and secure on the user</a:t>
            </a:r>
          </a:p>
        </p:txBody>
      </p:sp>
      <p:sp>
        <p:nvSpPr>
          <p:cNvPr id="14" name="TextBox 13"/>
          <p:cNvSpPr txBox="1"/>
          <p:nvPr/>
        </p:nvSpPr>
        <p:spPr>
          <a:xfrm>
            <a:off x="5476875" y="4219575"/>
            <a:ext cx="6096000" cy="361950"/>
          </a:xfrm>
          <a:prstGeom prst="rect">
            <a:avLst/>
          </a:prstGeom>
          <a:noFill/>
        </p:spPr>
        <p:txBody>
          <a:bodyPr wrap="square" lIns="0" tIns="0" rIns="0" bIns="0" anchor="ctr">
            <a:spAutoFit/>
          </a:bodyPr>
          <a:lstStyle/>
          <a:p>
            <a:pPr algn="l"/>
            <a:r>
              <a:rPr sz="2025" b="1" dirty="0">
                <a:solidFill>
                  <a:srgbClr val="087F8C"/>
                </a:solidFill>
                <a:latin typeface="DejaVu Sans"/>
              </a:rPr>
              <a:t>Speaker mount</a:t>
            </a:r>
          </a:p>
        </p:txBody>
      </p:sp>
      <p:sp>
        <p:nvSpPr>
          <p:cNvPr id="15" name="TextBox 14"/>
          <p:cNvSpPr txBox="1"/>
          <p:nvPr/>
        </p:nvSpPr>
        <p:spPr>
          <a:xfrm>
            <a:off x="5476875" y="4610100"/>
            <a:ext cx="6096000" cy="409575"/>
          </a:xfrm>
          <a:prstGeom prst="rect">
            <a:avLst/>
          </a:prstGeom>
          <a:noFill/>
        </p:spPr>
        <p:txBody>
          <a:bodyPr wrap="square" lIns="0" tIns="0" rIns="0" bIns="0" anchor="ctr">
            <a:spAutoFit/>
          </a:bodyPr>
          <a:lstStyle/>
          <a:p>
            <a:pPr algn="l"/>
            <a:r>
              <a:rPr sz="1875" b="0" dirty="0">
                <a:solidFill>
                  <a:srgbClr val="12334A"/>
                </a:solidFill>
                <a:latin typeface="DejaVu Sans"/>
              </a:rPr>
              <a:t>Removable attachment to the TurtleBot</a:t>
            </a:r>
          </a:p>
        </p:txBody>
      </p:sp>
      <p:sp>
        <p:nvSpPr>
          <p:cNvPr id="16" name="TextBox 15"/>
          <p:cNvSpPr txBox="1"/>
          <p:nvPr/>
        </p:nvSpPr>
        <p:spPr>
          <a:xfrm>
            <a:off x="5476875" y="5191125"/>
            <a:ext cx="6096000" cy="361950"/>
          </a:xfrm>
          <a:prstGeom prst="rect">
            <a:avLst/>
          </a:prstGeom>
          <a:noFill/>
        </p:spPr>
        <p:txBody>
          <a:bodyPr wrap="square" lIns="0" tIns="0" rIns="0" bIns="0" anchor="ctr">
            <a:spAutoFit/>
          </a:bodyPr>
          <a:lstStyle/>
          <a:p>
            <a:pPr algn="l"/>
            <a:r>
              <a:rPr sz="2025" b="1" dirty="0">
                <a:solidFill>
                  <a:srgbClr val="087F8C"/>
                </a:solidFill>
                <a:latin typeface="DejaVu Sans"/>
              </a:rPr>
              <a:t>Sensor positioning</a:t>
            </a:r>
          </a:p>
        </p:txBody>
      </p:sp>
      <p:sp>
        <p:nvSpPr>
          <p:cNvPr id="17" name="TextBox 16"/>
          <p:cNvSpPr txBox="1"/>
          <p:nvPr/>
        </p:nvSpPr>
        <p:spPr>
          <a:xfrm>
            <a:off x="5476875" y="5581650"/>
            <a:ext cx="6096000" cy="409575"/>
          </a:xfrm>
          <a:prstGeom prst="rect">
            <a:avLst/>
          </a:prstGeom>
          <a:noFill/>
        </p:spPr>
        <p:txBody>
          <a:bodyPr wrap="square" lIns="0" tIns="0" rIns="0" bIns="0" anchor="ctr">
            <a:spAutoFit/>
          </a:bodyPr>
          <a:lstStyle/>
          <a:p>
            <a:pPr algn="l"/>
            <a:r>
              <a:rPr sz="1875" b="0" dirty="0">
                <a:solidFill>
                  <a:srgbClr val="12334A"/>
                </a:solidFill>
                <a:latin typeface="DejaVu Sans"/>
              </a:rPr>
              <a:t>Explore stable placement during movement</a:t>
            </a:r>
          </a:p>
        </p:txBody>
      </p:sp>
      <p:sp>
        <p:nvSpPr>
          <p:cNvPr id="18" name="TextBox 17"/>
          <p:cNvSpPr txBox="1"/>
          <p:nvPr/>
        </p:nvSpPr>
        <p:spPr>
          <a:xfrm>
            <a:off x="11096625" y="6344550"/>
            <a:ext cx="476250" cy="207749"/>
          </a:xfrm>
          <a:prstGeom prst="rect">
            <a:avLst/>
          </a:prstGeom>
          <a:noFill/>
        </p:spPr>
        <p:txBody>
          <a:bodyPr wrap="square" lIns="0" tIns="0" rIns="0" bIns="0" anchor="ctr">
            <a:spAutoFit/>
          </a:bodyPr>
          <a:lstStyle/>
          <a:p>
            <a:pPr algn="ctr"/>
            <a:r>
              <a:rPr lang="en-US" sz="1350" b="0">
                <a:solidFill>
                  <a:srgbClr val="527080"/>
                </a:solidFill>
                <a:latin typeface="DejaVu Sans"/>
              </a:rPr>
              <a:t>05</a:t>
            </a:r>
            <a:endParaRPr sz="1350" b="0">
              <a:solidFill>
                <a:srgbClr val="527080"/>
              </a:solidFill>
              <a:latin typeface="DejaVu Sans"/>
            </a:endParaRPr>
          </a:p>
        </p:txBody>
      </p:sp>
    </p:spTree>
    <p:extLst>
      <p:ext uri="{BB962C8B-B14F-4D97-AF65-F5344CB8AC3E}">
        <p14:creationId xmlns:p14="http://schemas.microsoft.com/office/powerpoint/2010/main" val="60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09600" y="584284"/>
            <a:ext cx="10972800" cy="507831"/>
          </a:xfrm>
          <a:prstGeom prst="rect">
            <a:avLst/>
          </a:prstGeom>
          <a:noFill/>
        </p:spPr>
        <p:txBody>
          <a:bodyPr wrap="square" lIns="0" tIns="0" rIns="0" bIns="0" anchor="ctr">
            <a:spAutoFit/>
          </a:bodyPr>
          <a:lstStyle/>
          <a:p>
            <a:pPr algn="l"/>
            <a:r>
              <a:rPr lang="en-US" sz="3300" b="1" dirty="0">
                <a:solidFill>
                  <a:srgbClr val="12334A"/>
                </a:solidFill>
                <a:latin typeface="DejaVu Sans"/>
              </a:rPr>
              <a:t>Future Extensions</a:t>
            </a:r>
          </a:p>
        </p:txBody>
      </p:sp>
      <p:sp>
        <p:nvSpPr>
          <p:cNvPr id="3" name="TextBox 2"/>
          <p:cNvSpPr txBox="1"/>
          <p:nvPr/>
        </p:nvSpPr>
        <p:spPr>
          <a:xfrm>
            <a:off x="609600" y="2355807"/>
            <a:ext cx="4667250" cy="333375"/>
          </a:xfrm>
          <a:prstGeom prst="rect">
            <a:avLst/>
          </a:prstGeom>
          <a:noFill/>
        </p:spPr>
        <p:txBody>
          <a:bodyPr wrap="square" lIns="0" tIns="0" rIns="0" bIns="0" anchor="ctr">
            <a:spAutoFit/>
          </a:bodyPr>
          <a:lstStyle/>
          <a:p>
            <a:pPr algn="l"/>
            <a:r>
              <a:rPr sz="1725" b="1">
                <a:solidFill>
                  <a:srgbClr val="087F8C"/>
                </a:solidFill>
                <a:latin typeface="DejaVu Sans"/>
              </a:rPr>
              <a:t>LATER, IF USEFUL</a:t>
            </a:r>
          </a:p>
        </p:txBody>
      </p:sp>
      <p:sp>
        <p:nvSpPr>
          <p:cNvPr id="4" name="TextBox 3"/>
          <p:cNvSpPr txBox="1"/>
          <p:nvPr/>
        </p:nvSpPr>
        <p:spPr>
          <a:xfrm>
            <a:off x="609600" y="3199841"/>
            <a:ext cx="4905375" cy="369332"/>
          </a:xfrm>
          <a:prstGeom prst="rect">
            <a:avLst/>
          </a:prstGeom>
          <a:noFill/>
        </p:spPr>
        <p:txBody>
          <a:bodyPr wrap="square" lIns="0" tIns="0" rIns="0" bIns="0" anchor="ctr">
            <a:spAutoFit/>
          </a:bodyPr>
          <a:lstStyle/>
          <a:p>
            <a:pPr algn="l"/>
            <a:r>
              <a:rPr lang="en-US" sz="2400" b="0" dirty="0">
                <a:solidFill>
                  <a:srgbClr val="12334A"/>
                </a:solidFill>
                <a:latin typeface="DejaVu Sans"/>
              </a:rPr>
              <a:t>Optional SpO₂ signal</a:t>
            </a:r>
          </a:p>
        </p:txBody>
      </p:sp>
      <p:sp>
        <p:nvSpPr>
          <p:cNvPr id="5" name="TextBox 4"/>
          <p:cNvSpPr txBox="1"/>
          <p:nvPr/>
        </p:nvSpPr>
        <p:spPr>
          <a:xfrm>
            <a:off x="609600" y="3914216"/>
            <a:ext cx="4905375" cy="369332"/>
          </a:xfrm>
          <a:prstGeom prst="rect">
            <a:avLst/>
          </a:prstGeom>
          <a:noFill/>
        </p:spPr>
        <p:txBody>
          <a:bodyPr wrap="square" lIns="0" tIns="0" rIns="0" bIns="0" anchor="ctr">
            <a:spAutoFit/>
          </a:bodyPr>
          <a:lstStyle/>
          <a:p>
            <a:pPr algn="l"/>
            <a:r>
              <a:rPr lang="en-US" sz="2400" b="0" dirty="0">
                <a:solidFill>
                  <a:srgbClr val="12334A"/>
                </a:solidFill>
                <a:latin typeface="DejaVu Sans"/>
              </a:rPr>
              <a:t>Node-RED dashboard</a:t>
            </a:r>
          </a:p>
        </p:txBody>
      </p:sp>
      <p:sp>
        <p:nvSpPr>
          <p:cNvPr id="6" name="TextBox 5"/>
          <p:cNvSpPr txBox="1"/>
          <p:nvPr/>
        </p:nvSpPr>
        <p:spPr>
          <a:xfrm>
            <a:off x="609600" y="4575132"/>
            <a:ext cx="4905375" cy="476250"/>
          </a:xfrm>
          <a:prstGeom prst="rect">
            <a:avLst/>
          </a:prstGeom>
          <a:noFill/>
        </p:spPr>
        <p:txBody>
          <a:bodyPr wrap="square" lIns="0" tIns="0" rIns="0" bIns="0" anchor="ctr">
            <a:spAutoFit/>
          </a:bodyPr>
          <a:lstStyle/>
          <a:p>
            <a:pPr algn="l"/>
            <a:r>
              <a:rPr sz="2400" b="0">
                <a:solidFill>
                  <a:srgbClr val="12334A"/>
                </a:solidFill>
                <a:latin typeface="DejaVu Sans"/>
              </a:rPr>
              <a:t>More exercises</a:t>
            </a:r>
          </a:p>
        </p:txBody>
      </p:sp>
      <p:cxnSp>
        <p:nvCxnSpPr>
          <p:cNvPr id="8" name="Connector 7"/>
          <p:cNvCxnSpPr>
            <a:cxnSpLocks/>
          </p:cNvCxnSpPr>
          <p:nvPr/>
        </p:nvCxnSpPr>
        <p:spPr>
          <a:xfrm>
            <a:off x="6096000" y="1873770"/>
            <a:ext cx="0" cy="3917430"/>
          </a:xfrm>
          <a:prstGeom prst="line">
            <a:avLst/>
          </a:prstGeom>
          <a:ln w="22860">
            <a:solidFill>
              <a:srgbClr val="C6D8E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772275" y="2855869"/>
            <a:ext cx="4800600" cy="847725"/>
          </a:xfrm>
          <a:prstGeom prst="rect">
            <a:avLst/>
          </a:prstGeom>
          <a:noFill/>
        </p:spPr>
        <p:txBody>
          <a:bodyPr wrap="square" lIns="0" tIns="0" rIns="0" bIns="0" anchor="ctr">
            <a:spAutoFit/>
          </a:bodyPr>
          <a:lstStyle/>
          <a:p>
            <a:pPr algn="ctr"/>
            <a:r>
              <a:rPr sz="4200" b="1" dirty="0">
                <a:solidFill>
                  <a:srgbClr val="12334A"/>
                </a:solidFill>
                <a:latin typeface="DejaVu Sans"/>
              </a:rPr>
              <a:t>Thank you</a:t>
            </a:r>
          </a:p>
        </p:txBody>
      </p:sp>
      <p:sp>
        <p:nvSpPr>
          <p:cNvPr id="11" name="TextBox 10"/>
          <p:cNvSpPr txBox="1"/>
          <p:nvPr/>
        </p:nvSpPr>
        <p:spPr>
          <a:xfrm>
            <a:off x="6772275" y="3921040"/>
            <a:ext cx="4800600" cy="790575"/>
          </a:xfrm>
          <a:prstGeom prst="rect">
            <a:avLst/>
          </a:prstGeom>
          <a:noFill/>
        </p:spPr>
        <p:txBody>
          <a:bodyPr wrap="square" lIns="0" tIns="0" rIns="0" bIns="0" anchor="ctr">
            <a:spAutoFit/>
          </a:bodyPr>
          <a:lstStyle/>
          <a:p>
            <a:pPr algn="ctr"/>
            <a:r>
              <a:rPr sz="1950" b="0" dirty="0">
                <a:solidFill>
                  <a:srgbClr val="527080"/>
                </a:solidFill>
                <a:latin typeface="DejaVu Sans"/>
              </a:rPr>
              <a:t>Andriana Sima</a:t>
            </a:r>
          </a:p>
          <a:p>
            <a:pPr algn="ctr"/>
            <a:r>
              <a:rPr sz="1950" b="0" dirty="0">
                <a:solidFill>
                  <a:srgbClr val="527080"/>
                </a:solidFill>
                <a:latin typeface="DejaVu Sans"/>
              </a:rPr>
              <a:t>Chandu Sukumar</a:t>
            </a:r>
          </a:p>
        </p:txBody>
      </p:sp>
      <p:sp>
        <p:nvSpPr>
          <p:cNvPr id="12" name="TextBox 11"/>
          <p:cNvSpPr txBox="1"/>
          <p:nvPr/>
        </p:nvSpPr>
        <p:spPr>
          <a:xfrm>
            <a:off x="11096625" y="6344550"/>
            <a:ext cx="476250" cy="207749"/>
          </a:xfrm>
          <a:prstGeom prst="rect">
            <a:avLst/>
          </a:prstGeom>
          <a:noFill/>
        </p:spPr>
        <p:txBody>
          <a:bodyPr wrap="square" lIns="0" tIns="0" rIns="0" bIns="0" anchor="ctr">
            <a:spAutoFit/>
          </a:bodyPr>
          <a:lstStyle/>
          <a:p>
            <a:pPr algn="ctr"/>
            <a:r>
              <a:rPr lang="en-US" sz="1350" b="0">
                <a:solidFill>
                  <a:srgbClr val="527080"/>
                </a:solidFill>
                <a:latin typeface="DejaVu Sans"/>
              </a:rPr>
              <a:t>06</a:t>
            </a:r>
            <a:endParaRPr sz="1350" b="0">
              <a:solidFill>
                <a:srgbClr val="527080"/>
              </a:solidFill>
              <a:latin typeface="DejaVu Sans"/>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1017</TotalTime>
  <Words>909</Words>
  <Application>Microsoft Macintosh PowerPoint</Application>
  <PresentationFormat>Widescreen</PresentationFormat>
  <Paragraphs>117</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Andriana Sima</dc:creator>
  <cp:lastModifiedBy>Andriana Sima</cp:lastModifiedBy>
  <cp:revision>8</cp:revision>
  <dcterms:created xsi:type="dcterms:W3CDTF">2026-10-07T11:31:23Z</dcterms:created>
  <dcterms:modified xsi:type="dcterms:W3CDTF">2026-10-08T09:21:52Z</dcterms:modified>
</cp:coreProperties>
</file>